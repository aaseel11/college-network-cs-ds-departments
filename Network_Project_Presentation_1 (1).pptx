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ar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875520" y="1097280"/>
            <a:ext cx="1188720" cy="-36576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064240" y="731520"/>
            <a:ext cx="365760" cy="100584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430000" y="1737360"/>
            <a:ext cx="-1097280" cy="36576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332720" y="2103120"/>
            <a:ext cx="-457200" cy="-100584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875520" y="1097280"/>
            <a:ext cx="-548640" cy="73152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326880" y="1828800"/>
            <a:ext cx="1005840" cy="27432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820656" y="104241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009376" y="67665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375136" y="168249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277856" y="204825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9272016" y="177393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40080" y="22860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008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تصميم الشبكة</a:t>
            </a:r>
            <a:endParaRPr xmlns:a="http://schemas.openxmlformats.org/drawingml/2006/main"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شبكة الكليات</a:t>
            </a:r>
            <a:endParaRPr xmlns:a="http://schemas.openxmlformats.org/drawingml/2006/main" lang="en-US" sz="4000" dirty="0"/>
          </a:p>
        </p:txBody>
      </p:sp>
      <p:sp>
        <p:nvSpPr>
          <p:cNvPr id="128" name="Text 126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800" dirty="0">
                <a:solidFill>
                  <a:srgbClr val="2F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أقسام علوم البيانات وعلوم الحاسوب</a:t>
            </a:r>
            <a:endParaRPr xmlns:a="http://schemas.openxmlformats.org/drawingml/2006/main"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640080" y="4343400"/>
            <a:ext cx="2743200" cy="0"/>
          </a:xfrm>
          <a:prstGeom prst="line">
            <a:avLst/>
          </a:prstGeom>
          <a:noFill/>
          <a:ln w="19050">
            <a:solidFill>
              <a:srgbClr val="1B8F9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008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dirty="0">
                <a:solidFill>
                  <a:srgbClr val="AAB4C4"/>
                </a:solidFill>
              </a:rPr>
              <a:t>إعداد: </a:t>
            </a:r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FFFFFF"/>
                </a:solidFill>
              </a:rPr>
              <a:t>أسيل العنزي</a:t>
            </a:r>
            <a:endParaRPr xmlns:a="http://schemas.openxmlformats.org/drawingml/2006/main" lang="en-US" sz="1400" dirty="0"/>
          </a:p>
        </p:txBody>
      </p:sp>
      <p:sp>
        <p:nvSpPr>
          <p:cNvPr id="131" name="Text 129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AAB4C4"/>
                </a:solidFill>
              </a:rPr>
              <a:t>قسم علوم الحاسوب · جامعة حائل</a:t>
            </a:r>
            <a:endParaRPr xmlns:a="http://schemas.openxmlformats.org/drawingml/2006/main"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640080" y="5394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AAB4C4"/>
                </a:solidFill>
              </a:rPr>
              <a:t>الأداة: سيسكو باكت ترايسر | نوفمبر 2025</a:t>
            </a:r>
            <a:endParaRPr xmlns:a="http://schemas.openxmlformats.org/drawingml/2006/main"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المشروع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548640" y="18288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/>
        </p:spPr>
      </p:sp>
      <p:sp>
        <p:nvSpPr>
          <p:cNvPr id="118" name="Text 116"/>
          <p:cNvSpPr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ct val="130000"/>
              </a:lnSpc>
              <a:buNone/>
              <a:bidi/>
            </a:pPr>
            <a:r xmlns:a="http://schemas.openxmlformats.org/drawingml/2006/main">
              <a:rPr lang="ar" sz="1800" dirty="0">
                <a:solidFill>
                  <a:srgbClr val="FFFFFF"/>
                </a:solidFill>
              </a:rPr>
              <a:t>قم بتصميم وتكوين شبكتين مترابطتين داخل كلية علوم الحاسوب في جامعة حائل - واحدة لقسم علوم البيانات والأخرى لقسم علوم الحاسوب - باستخدام برنامج Cisco Packet Tracer.</a:t>
            </a:r>
            <a:endParaRPr xmlns:a="http://schemas.openxmlformats.org/drawingml/2006/main" lang="en-US" sz="1800" dirty="0"/>
          </a:p>
        </p:txBody>
      </p:sp>
      <p:sp>
        <p:nvSpPr>
          <p:cNvPr id="119" name="Text 117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ct val="130000"/>
              </a:lnSpc>
              <a:buNone/>
              <a:bidi/>
            </a:pPr>
            <a:r xmlns:a="http://schemas.openxmlformats.org/drawingml/2006/main">
              <a:rPr lang="ar" sz="1500" i="1" dirty="0">
                <a:solidFill>
                  <a:srgbClr val="2FD8E0"/>
                </a:solidFill>
              </a:rPr>
              <a:t>يوضح المشروع مفاهيم الشبكات الأساسية: عناوين IP، وتكوين DNS، والتوجيه الثابت، والاتصال بين الشبكات من خلال أجهزة التوجيه.</a:t>
            </a:r>
            <a:endParaRPr xmlns:a="http://schemas.openxmlformats.org/drawingml/2006/main" lang="en-US" sz="1500" dirty="0"/>
          </a:p>
        </p:txBody>
      </p:sp>
      <p:sp>
        <p:nvSpPr>
          <p:cNvPr id="120" name="Shape 118"/>
          <p:cNvSpPr/>
          <p:nvPr/>
        </p:nvSpPr>
        <p:spPr>
          <a:xfrm>
            <a:off x="548640" y="4572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4864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3400" b="1" dirty="0">
                <a:solidFill>
                  <a:srgbClr val="2FD8E0"/>
                </a:solidFill>
              </a:rPr>
              <a:t>2</a:t>
            </a:r>
            <a:endParaRPr xmlns:a="http://schemas.openxmlformats.org/drawingml/2006/main" lang="en-US" sz="3400" dirty="0"/>
          </a:p>
        </p:txBody>
      </p:sp>
      <p:sp>
        <p:nvSpPr>
          <p:cNvPr id="122" name="Text 120"/>
          <p:cNvSpPr/>
          <p:nvPr/>
        </p:nvSpPr>
        <p:spPr>
          <a:xfrm>
            <a:off x="548640" y="5394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200" dirty="0">
                <a:solidFill>
                  <a:srgbClr val="AAB4C4"/>
                </a:solidFill>
              </a:rPr>
              <a:t>الأقسام</a:t>
            </a:r>
            <a:endParaRPr xmlns:a="http://schemas.openxmlformats.org/drawingml/2006/main"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3383280" y="4572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8328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3400" b="1" dirty="0">
                <a:solidFill>
                  <a:srgbClr val="2FD8E0"/>
                </a:solidFill>
              </a:rPr>
              <a:t>2</a:t>
            </a:r>
            <a:endParaRPr xmlns:a="http://schemas.openxmlformats.org/drawingml/2006/main" lang="en-US" sz="3400" dirty="0"/>
          </a:p>
        </p:txBody>
      </p:sp>
      <p:sp>
        <p:nvSpPr>
          <p:cNvPr id="125" name="Text 123"/>
          <p:cNvSpPr/>
          <p:nvPr/>
        </p:nvSpPr>
        <p:spPr>
          <a:xfrm>
            <a:off x="3383280" y="5394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200" dirty="0">
                <a:solidFill>
                  <a:srgbClr val="AAB4C4"/>
                </a:solidFill>
              </a:rPr>
              <a:t>أجهزة التوجيه</a:t>
            </a:r>
            <a:endParaRPr xmlns:a="http://schemas.openxmlformats.org/drawingml/2006/main"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6217920" y="4572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21792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3400" b="1" dirty="0">
                <a:solidFill>
                  <a:srgbClr val="2FD8E0"/>
                </a:solidFill>
              </a:rPr>
              <a:t>20</a:t>
            </a:r>
            <a:endParaRPr xmlns:a="http://schemas.openxmlformats.org/drawingml/2006/main" lang="en-US" sz="3400" dirty="0"/>
          </a:p>
        </p:txBody>
      </p:sp>
      <p:sp>
        <p:nvSpPr>
          <p:cNvPr id="128" name="Text 126"/>
          <p:cNvSpPr/>
          <p:nvPr/>
        </p:nvSpPr>
        <p:spPr>
          <a:xfrm>
            <a:off x="6217920" y="5394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200" dirty="0">
                <a:solidFill>
                  <a:srgbClr val="AAB4C4"/>
                </a:solidFill>
              </a:rPr>
              <a:t>إجمالي الأجهزة</a:t>
            </a:r>
            <a:endParaRPr xmlns:a="http://schemas.openxmlformats.org/drawingml/2006/main"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9052560" y="4572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05256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3400" b="1" dirty="0">
                <a:solidFill>
                  <a:srgbClr val="2FD8E0"/>
                </a:solidFill>
              </a:rPr>
              <a:t>2</a:t>
            </a:r>
            <a:endParaRPr xmlns:a="http://schemas.openxmlformats.org/drawingml/2006/main" lang="en-US" sz="3400" dirty="0"/>
          </a:p>
        </p:txBody>
      </p:sp>
      <p:sp>
        <p:nvSpPr>
          <p:cNvPr id="131" name="Text 129"/>
          <p:cNvSpPr/>
          <p:nvPr/>
        </p:nvSpPr>
        <p:spPr>
          <a:xfrm>
            <a:off x="9052560" y="5394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200" dirty="0">
                <a:solidFill>
                  <a:srgbClr val="AAB4C4"/>
                </a:solidFill>
              </a:rPr>
              <a:t>خوادم نظام أسماء النطاقات (DNS)</a:t>
            </a:r>
            <a:endParaRPr xmlns:a="http://schemas.openxmlformats.org/drawingml/2006/main"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2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نِطَاق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المشروع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8" name="Text 116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1</a:t>
            </a:r>
            <a:endParaRPr xmlns:a="http://schemas.openxmlformats.org/drawingml/2006/main"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1188720" y="18928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أنشئ شبكتين منفصلتين من الفئة C، واحدة لكل قسم</a:t>
            </a:r>
            <a:endParaRPr xmlns:a="http://schemas.openxmlformats.org/drawingml/2006/main"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21" name="Text 119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2</a:t>
            </a:r>
            <a:endParaRPr xmlns:a="http://schemas.openxmlformats.org/drawingml/2006/main" lang="en-US" sz="1600" dirty="0"/>
          </a:p>
        </p:txBody>
      </p:sp>
      <p:sp>
        <p:nvSpPr>
          <p:cNvPr id="122" name="Text 120"/>
          <p:cNvSpPr/>
          <p:nvPr/>
        </p:nvSpPr>
        <p:spPr>
          <a:xfrm>
            <a:off x="1188720" y="24871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قم بتوصيل الشبكتين باستخدام جهازَي توجيه (راوتر) عبر اتصال تسلسلي.</a:t>
            </a:r>
            <a:endParaRPr xmlns:a="http://schemas.openxmlformats.org/drawingml/2006/main" lang="en-US" sz="1600" dirty="0"/>
          </a:p>
        </p:txBody>
      </p:sp>
      <p:sp>
        <p:nvSpPr>
          <p:cNvPr id="123" name="Shape 121"/>
          <p:cNvSpPr/>
          <p:nvPr/>
        </p:nvSpPr>
        <p:spPr>
          <a:xfrm>
            <a:off x="548640" y="3063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24" name="Text 122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3</a:t>
            </a:r>
            <a:endParaRPr xmlns:a="http://schemas.openxmlformats.org/drawingml/2006/main"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1188720" y="30815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قم بتعيين عناوين IP لجميع واجهات أجهزة التوجيه والخوادم وأجهزة الكمبيوتر الشخصية.</a:t>
            </a:r>
            <a:endParaRPr xmlns:a="http://schemas.openxmlformats.org/drawingml/2006/main" lang="en-US" sz="1600" dirty="0"/>
          </a:p>
        </p:txBody>
      </p:sp>
      <p:sp>
        <p:nvSpPr>
          <p:cNvPr id="126" name="Shape 124"/>
          <p:cNvSpPr/>
          <p:nvPr/>
        </p:nvSpPr>
        <p:spPr>
          <a:xfrm>
            <a:off x="54864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27" name="Text 125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4</a:t>
            </a:r>
            <a:endParaRPr xmlns:a="http://schemas.openxmlformats.org/drawingml/2006/main" lang="en-US" sz="1600" dirty="0"/>
          </a:p>
        </p:txBody>
      </p:sp>
      <p:sp>
        <p:nvSpPr>
          <p:cNvPr id="128" name="Text 126"/>
          <p:cNvSpPr/>
          <p:nvPr/>
        </p:nvSpPr>
        <p:spPr>
          <a:xfrm>
            <a:off x="1188720" y="36758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قم بتكوين خادم DNS في كل شبكة لحل أسماء الأجهزة</a:t>
            </a:r>
            <a:endParaRPr xmlns:a="http://schemas.openxmlformats.org/drawingml/2006/main" lang="en-US" sz="1600" dirty="0"/>
          </a:p>
        </p:txBody>
      </p:sp>
      <p:sp>
        <p:nvSpPr>
          <p:cNvPr id="129" name="Shape 127"/>
          <p:cNvSpPr/>
          <p:nvPr/>
        </p:nvSpPr>
        <p:spPr>
          <a:xfrm>
            <a:off x="54864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30" name="Text 128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5</a:t>
            </a:r>
            <a:endParaRPr xmlns:a="http://schemas.openxmlformats.org/drawingml/2006/main" lang="en-US" sz="1600" dirty="0"/>
          </a:p>
        </p:txBody>
      </p:sp>
      <p:sp>
        <p:nvSpPr>
          <p:cNvPr id="131" name="Text 129"/>
          <p:cNvSpPr/>
          <p:nvPr/>
        </p:nvSpPr>
        <p:spPr>
          <a:xfrm>
            <a:off x="1188720" y="42702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اختبر الاتصال داخل نفس الشبكة باستخدام أسماء الأجهزة</a:t>
            </a:r>
            <a:endParaRPr xmlns:a="http://schemas.openxmlformats.org/drawingml/2006/main" lang="en-US" sz="1600" dirty="0"/>
          </a:p>
        </p:txBody>
      </p:sp>
      <p:sp>
        <p:nvSpPr>
          <p:cNvPr id="132" name="Shape 130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33" name="Text 131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6</a:t>
            </a:r>
            <a:endParaRPr xmlns:a="http://schemas.openxmlformats.org/drawingml/2006/main" lang="en-US" sz="1600" dirty="0"/>
          </a:p>
        </p:txBody>
      </p:sp>
      <p:sp>
        <p:nvSpPr>
          <p:cNvPr id="134" name="Text 132"/>
          <p:cNvSpPr/>
          <p:nvPr/>
        </p:nvSpPr>
        <p:spPr>
          <a:xfrm>
            <a:off x="1188720" y="48646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اختبار الاتصال بين الشبكات باستخدام عناوين IP</a:t>
            </a:r>
            <a:endParaRPr xmlns:a="http://schemas.openxmlformats.org/drawingml/2006/main" lang="en-US" sz="1600" dirty="0"/>
          </a:p>
        </p:txBody>
      </p:sp>
      <p:sp>
        <p:nvSpPr>
          <p:cNvPr id="135" name="Shape 133"/>
          <p:cNvSpPr/>
          <p:nvPr/>
        </p:nvSpPr>
        <p:spPr>
          <a:xfrm>
            <a:off x="548640" y="5440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36" name="Text 134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7</a:t>
            </a:r>
            <a:endParaRPr xmlns:a="http://schemas.openxmlformats.org/drawingml/2006/main" lang="en-US" sz="1600" dirty="0"/>
          </a:p>
        </p:txBody>
      </p:sp>
      <p:sp>
        <p:nvSpPr>
          <p:cNvPr id="137" name="Text 135"/>
          <p:cNvSpPr/>
          <p:nvPr/>
        </p:nvSpPr>
        <p:spPr>
          <a:xfrm>
            <a:off x="1188720" y="54589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FFFFFF"/>
                </a:solidFill>
              </a:rPr>
              <a:t>أضف تسميات واضحة ونظّم بنية المخطط لتسهيل قراءته.</a:t>
            </a:r>
            <a:endParaRPr xmlns:a="http://schemas.openxmlformats.org/drawingml/2006/main" lang="en-US" sz="1600" dirty="0"/>
          </a:p>
        </p:txBody>
      </p:sp>
      <p:sp>
        <p:nvSpPr>
          <p:cNvPr id="138" name="Text 13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3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 على تصميم الشبكة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54864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2FD8E0"/>
                </a:solidFill>
              </a:rPr>
              <a:t>الشبكة أ</a:t>
            </a:r>
            <a:endParaRPr xmlns:a="http://schemas.openxmlformats.org/drawingml/2006/main"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77724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AAB4C4"/>
                </a:solidFill>
              </a:rPr>
              <a:t>قسم علوم البيانات</a:t>
            </a:r>
            <a:endParaRPr xmlns:a="http://schemas.openxmlformats.org/drawingml/2006/main"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77724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2200" b="1" dirty="0">
                <a:solidFill>
                  <a:srgbClr val="FFFFFF"/>
                </a:solidFill>
              </a:rPr>
              <a:t>192.168.10.0/24</a:t>
            </a:r>
            <a:endParaRPr xmlns:a="http://schemas.openxmlformats.org/drawingml/2006/main" lang="en-US" sz="2200" dirty="0"/>
          </a:p>
        </p:txBody>
      </p:sp>
      <p:sp>
        <p:nvSpPr>
          <p:cNvPr id="121" name="Shape 119"/>
          <p:cNvSpPr/>
          <p:nvPr/>
        </p:nvSpPr>
        <p:spPr>
          <a:xfrm>
            <a:off x="434340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5720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2FD8E0"/>
                </a:solidFill>
              </a:rPr>
              <a:t>الشبكة ب</a:t>
            </a:r>
            <a:endParaRPr xmlns:a="http://schemas.openxmlformats.org/drawingml/2006/main"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457200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AAB4C4"/>
                </a:solidFill>
              </a:rPr>
              <a:t>قسم علوم الحاسوب</a:t>
            </a:r>
            <a:endParaRPr xmlns:a="http://schemas.openxmlformats.org/drawingml/2006/main"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457200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2200" b="1" dirty="0">
                <a:solidFill>
                  <a:srgbClr val="FFFFFF"/>
                </a:solidFill>
              </a:rPr>
              <a:t>192.168.20.0/24</a:t>
            </a:r>
            <a:endParaRPr xmlns:a="http://schemas.openxmlformats.org/drawingml/2006/main" lang="en-US" sz="2200" dirty="0"/>
          </a:p>
        </p:txBody>
      </p:sp>
      <p:sp>
        <p:nvSpPr>
          <p:cNvPr id="125" name="Shape 123"/>
          <p:cNvSpPr/>
          <p:nvPr/>
        </p:nvSpPr>
        <p:spPr>
          <a:xfrm>
            <a:off x="813816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36676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2FD8E0"/>
                </a:solidFill>
              </a:rPr>
              <a:t>رابط تسلسلي</a:t>
            </a:r>
            <a:endParaRPr xmlns:a="http://schemas.openxmlformats.org/drawingml/2006/main"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836676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AAB4C4"/>
                </a:solidFill>
              </a:rPr>
              <a:t>اتصال جهاز التوجيه بجهاز التوجيه</a:t>
            </a:r>
            <a:endParaRPr xmlns:a="http://schemas.openxmlformats.org/drawingml/2006/main" lang="en-US" sz="1300" dirty="0"/>
          </a:p>
        </p:txBody>
      </p:sp>
      <p:sp>
        <p:nvSpPr>
          <p:cNvPr id="128" name="Text 126"/>
          <p:cNvSpPr/>
          <p:nvPr/>
        </p:nvSpPr>
        <p:spPr>
          <a:xfrm>
            <a:off x="836676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2200" b="1" dirty="0">
                <a:solidFill>
                  <a:srgbClr val="FFFFFF"/>
                </a:solidFill>
              </a:rPr>
              <a:t>10.10.10.0/30</a:t>
            </a:r>
            <a:endParaRPr xmlns:a="http://schemas.openxmlformats.org/drawingml/2006/main" lang="en-US" sz="2200" dirty="0"/>
          </a:p>
        </p:txBody>
      </p:sp>
      <p:sp>
        <p:nvSpPr>
          <p:cNvPr id="129" name="Shape 127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32A4D"/>
          </a:solidFill>
          <a:ln/>
        </p:spPr>
      </p:sp>
      <p:sp>
        <p:nvSpPr>
          <p:cNvPr id="130" name="Text 128"/>
          <p:cNvSpPr/>
          <p:nvPr/>
        </p:nvSpPr>
        <p:spPr>
          <a:xfrm>
            <a:off x="822960" y="42976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800" b="1" dirty="0">
                <a:solidFill>
                  <a:srgbClr val="F2A93B"/>
                </a:solidFill>
              </a:rPr>
              <a:t>إجمالي الأجهزة = 2 جهاز توجيه + 2 محول + 2 خادم DNS + 14 جهاز كمبيوتر (7 لكل قسم) = 20 جهازًا</a:t>
            </a:r>
            <a:endParaRPr xmlns:a="http://schemas.openxmlformats.org/drawingml/2006/main" lang="en-US" sz="1800" dirty="0"/>
          </a:p>
        </p:txBody>
      </p:sp>
      <p:sp>
        <p:nvSpPr>
          <p:cNvPr id="131" name="Text 1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4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الطوبولوجيا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الشبكة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548640" y="2103120"/>
            <a:ext cx="4937760" cy="3840480"/>
          </a:xfrm>
          <a:prstGeom prst="roundRect">
            <a:avLst>
              <a:gd name="adj" fmla="val 3571"/>
            </a:avLst>
          </a:prstGeom>
          <a:solidFill>
            <a:srgbClr val="16324F"/>
          </a:solidFill>
          <a:ln w="19050">
            <a:solidFill>
              <a:srgbClr val="1B8F9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864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2FD8E0"/>
                </a:solidFill>
              </a:rPr>
              <a:t>قسم علوم البيانات — 192.168.10.0/24</a:t>
            </a:r>
            <a:endParaRPr xmlns:a="http://schemas.openxmlformats.org/drawingml/2006/main"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6583680" y="2103120"/>
            <a:ext cx="4937760" cy="3840480"/>
          </a:xfrm>
          <a:prstGeom prst="roundRect">
            <a:avLst>
              <a:gd name="adj" fmla="val 3571"/>
            </a:avLst>
          </a:prstGeom>
          <a:solidFill>
            <a:srgbClr val="16324F"/>
          </a:solidFill>
          <a:ln w="19050">
            <a:solidFill>
              <a:srgbClr val="1B8F9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8368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2FD8E0"/>
                </a:solidFill>
              </a:rPr>
              <a:t>قسم علوم الحاسوب — 192.168.20.0/24</a:t>
            </a:r>
            <a:endParaRPr xmlns:a="http://schemas.openxmlformats.org/drawingml/2006/main"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2651760" y="2743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1B8F96"/>
          </a:solidFill>
          <a:ln/>
        </p:spPr>
      </p:sp>
      <p:sp>
        <p:nvSpPr>
          <p:cNvPr id="122" name="Text 120"/>
          <p:cNvSpPr/>
          <p:nvPr/>
        </p:nvSpPr>
        <p:spPr>
          <a:xfrm>
            <a:off x="2651760" y="2743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300" b="1" dirty="0">
                <a:solidFill>
                  <a:srgbClr val="FFFFFF"/>
                </a:solidFill>
              </a:rPr>
              <a:t>R0</a:t>
            </a:r>
            <a:endParaRPr xmlns:a="http://schemas.openxmlformats.org/drawingml/2006/main"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8686800" y="2743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1B8F96"/>
          </a:solidFill>
          <a:ln/>
        </p:spPr>
      </p:sp>
      <p:sp>
        <p:nvSpPr>
          <p:cNvPr id="124" name="Text 122"/>
          <p:cNvSpPr/>
          <p:nvPr/>
        </p:nvSpPr>
        <p:spPr>
          <a:xfrm>
            <a:off x="8686800" y="2743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300" b="1" dirty="0">
                <a:solidFill>
                  <a:srgbClr val="FFFFFF"/>
                </a:solidFill>
              </a:rPr>
              <a:t>R1</a:t>
            </a:r>
            <a:endParaRPr xmlns:a="http://schemas.openxmlformats.org/drawingml/2006/main"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3474720" y="3017520"/>
            <a:ext cx="5212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</p:sp>
      <p:sp>
        <p:nvSpPr>
          <p:cNvPr id="126" name="Text 124"/>
          <p:cNvSpPr/>
          <p:nvPr/>
        </p:nvSpPr>
        <p:spPr>
          <a:xfrm>
            <a:off x="4572000" y="2606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F2A93B"/>
                </a:solidFill>
              </a:rPr>
              <a:t>الرقم التسلسلي 10.10.10.0/30</a:t>
            </a:r>
            <a:endParaRPr xmlns:a="http://schemas.openxmlformats.org/drawingml/2006/main"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2514600" y="3749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51460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FFFFFF"/>
                </a:solidFill>
              </a:rPr>
              <a:t>Switch0</a:t>
            </a:r>
            <a:endParaRPr xmlns:a="http://schemas.openxmlformats.org/drawingml/2006/main"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063240" y="3291840"/>
            <a:ext cx="0" cy="457200"/>
          </a:xfrm>
          <a:prstGeom prst="line">
            <a:avLst/>
          </a:prstGeom>
          <a:noFill/>
          <a:ln w="12700">
            <a:solidFill>
              <a:srgbClr val="1B8F9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549640" y="3749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54964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FFFFFF"/>
                </a:solidFill>
              </a:rPr>
              <a:t>المفتاح 1</a:t>
            </a:r>
            <a:endParaRPr xmlns:a="http://schemas.openxmlformats.org/drawingml/2006/main"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9098280" y="3291840"/>
            <a:ext cx="0" cy="457200"/>
          </a:xfrm>
          <a:prstGeom prst="line">
            <a:avLst/>
          </a:prstGeom>
          <a:noFill/>
          <a:ln w="12700">
            <a:solidFill>
              <a:srgbClr val="1B8F9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0584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200" dirty="0">
                <a:solidFill>
                  <a:srgbClr val="AAB4C4"/>
                </a:solidFill>
              </a:rPr>
              <a:t>7 × جهاز كمبيوتر + 1 × خادم DNS</a:t>
            </a:r>
            <a:endParaRPr xmlns:a="http://schemas.openxmlformats.org/drawingml/2006/main"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1463040" y="489204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463040" y="4892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dirty="0">
                <a:solidFill>
                  <a:srgbClr val="FFFFFF"/>
                </a:solidFill>
              </a:rPr>
              <a:t>PC0–PC6 · Server0 (DNS)</a:t>
            </a:r>
            <a:endParaRPr xmlns:a="http://schemas.openxmlformats.org/drawingml/2006/main" lang="en-US" sz="1100" dirty="0"/>
          </a:p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dirty="0">
                <a:solidFill>
                  <a:srgbClr val="FFFFFF"/>
                </a:solidFill>
              </a:rPr>
              <a:t>192.168.10.2 – .10</a:t>
            </a:r>
            <a:endParaRPr xmlns:a="http://schemas.openxmlformats.org/drawingml/2006/main"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3063240" y="4160520"/>
            <a:ext cx="0" cy="731520"/>
          </a:xfrm>
          <a:prstGeom prst="line">
            <a:avLst/>
          </a:prstGeom>
          <a:noFill/>
          <a:ln w="12700">
            <a:solidFill>
              <a:srgbClr val="1B8F9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04088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200" dirty="0">
                <a:solidFill>
                  <a:srgbClr val="AAB4C4"/>
                </a:solidFill>
              </a:rPr>
              <a:t>7 × جهاز كمبيوتر + 1 × خادم DNS</a:t>
            </a:r>
            <a:endParaRPr xmlns:a="http://schemas.openxmlformats.org/drawingml/2006/main"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7498080" y="489204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132A4D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498080" y="4892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dirty="0">
                <a:solidFill>
                  <a:srgbClr val="FFFFFF"/>
                </a:solidFill>
              </a:rPr>
              <a:t>PC7–PC13 · الخادم 1 (نظام أسماء النطاقات)</a:t>
            </a:r>
            <a:endParaRPr xmlns:a="http://schemas.openxmlformats.org/drawingml/2006/main" lang="en-US" sz="1100" dirty="0"/>
          </a:p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dirty="0">
                <a:solidFill>
                  <a:srgbClr val="FFFFFF"/>
                </a:solidFill>
              </a:rPr>
              <a:t>192.168.20.2 – .9</a:t>
            </a:r>
            <a:endParaRPr xmlns:a="http://schemas.openxmlformats.org/drawingml/2006/main"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9098280" y="4160520"/>
            <a:ext cx="0" cy="731520"/>
          </a:xfrm>
          <a:prstGeom prst="line">
            <a:avLst/>
          </a:prstGeom>
          <a:noFill/>
          <a:ln w="12700">
            <a:solidFill>
              <a:srgbClr val="1B8F9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5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التوجيه الثابت</a:t>
            </a:r>
            <a:endParaRPr xmlns:a="http://schemas.openxmlformats.org/drawingml/2006/main" lang="en-US" sz="3200" dirty="0"/>
          </a:p>
        </p:txBody>
      </p:sp>
      <p:sp>
        <p:nvSpPr>
          <p:cNvPr id="117" name="Text 115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AAB4C4"/>
                </a:solidFill>
              </a:rPr>
              <a:t>يتم تكوين كل جهاز توجيه بمسار ثابت يشير إلى شبكة القسم البعيد عبر وصلة التسلسل.</a:t>
            </a:r>
            <a:endParaRPr xmlns:a="http://schemas.openxmlformats.org/drawingml/2006/main"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548640" y="2560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22960" y="2697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2000" b="1" dirty="0">
                <a:solidFill>
                  <a:srgbClr val="2FD8E0"/>
                </a:solidFill>
              </a:rPr>
              <a:t>Router0</a:t>
            </a:r>
            <a:endParaRPr xmlns:a="http://schemas.openxmlformats.org/drawingml/2006/main" lang="en-US" sz="2000" dirty="0"/>
          </a:p>
        </p:txBody>
      </p:sp>
      <p:sp>
        <p:nvSpPr>
          <p:cNvPr id="120" name="Text 118"/>
          <p:cNvSpPr/>
          <p:nvPr/>
        </p:nvSpPr>
        <p:spPr>
          <a:xfrm>
            <a:off x="3017520" y="2697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dirty="0">
                <a:solidFill>
                  <a:srgbClr val="AAB4C4"/>
                </a:solidFill>
              </a:rPr>
              <a:t>الطريق إلى </a:t>
            </a:r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b="1" dirty="0">
                <a:solidFill>
                  <a:srgbClr val="FFFFFF"/>
                </a:solidFill>
              </a:rPr>
              <a:t>192.168.20.0/24 </a:t>
            </a:r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dirty="0">
                <a:solidFill>
                  <a:srgbClr val="F2A93B"/>
                </a:solidFill>
              </a:rPr>
              <a:t>عبر 10.10.10.2</a:t>
            </a:r>
            <a:endParaRPr xmlns:a="http://schemas.openxmlformats.org/drawingml/2006/main" lang="en-US" sz="1500" dirty="0"/>
          </a:p>
        </p:txBody>
      </p:sp>
      <p:sp>
        <p:nvSpPr>
          <p:cNvPr id="121" name="Text 119"/>
          <p:cNvSpPr/>
          <p:nvPr/>
        </p:nvSpPr>
        <p:spPr>
          <a:xfrm>
            <a:off x="813816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200" i="1" dirty="0">
                <a:solidFill>
                  <a:srgbClr val="AAB4C4"/>
                </a:solidFill>
              </a:rPr>
              <a:t>علم البيانات ← علوم الحاسوب</a:t>
            </a:r>
            <a:endParaRPr xmlns:a="http://schemas.openxmlformats.org/drawingml/2006/main"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548640" y="3977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2296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2000" b="1" dirty="0">
                <a:solidFill>
                  <a:srgbClr val="2FD8E0"/>
                </a:solidFill>
              </a:rPr>
              <a:t>جهاز التوجيه 1</a:t>
            </a:r>
            <a:endParaRPr xmlns:a="http://schemas.openxmlformats.org/drawingml/2006/main"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3017520" y="4114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dirty="0">
                <a:solidFill>
                  <a:srgbClr val="AAB4C4"/>
                </a:solidFill>
              </a:rPr>
              <a:t>الطريق إلى </a:t>
            </a:r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b="1" dirty="0">
                <a:solidFill>
                  <a:srgbClr val="FFFFFF"/>
                </a:solidFill>
              </a:rPr>
              <a:t>192.168.10.0/24 </a:t>
            </a:r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dirty="0">
                <a:solidFill>
                  <a:srgbClr val="F2A93B"/>
                </a:solidFill>
              </a:rPr>
              <a:t>عبر 10.10.10.1</a:t>
            </a:r>
            <a:endParaRPr xmlns:a="http://schemas.openxmlformats.org/drawingml/2006/main" lang="en-US" sz="1500" dirty="0"/>
          </a:p>
        </p:txBody>
      </p:sp>
      <p:sp>
        <p:nvSpPr>
          <p:cNvPr id="125" name="Text 123"/>
          <p:cNvSpPr/>
          <p:nvPr/>
        </p:nvSpPr>
        <p:spPr>
          <a:xfrm>
            <a:off x="8138160" y="4114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200" i="1" dirty="0">
                <a:solidFill>
                  <a:srgbClr val="AAB4C4"/>
                </a:solidFill>
              </a:rPr>
              <a:t>علوم الحاسوب ← علم البيانات</a:t>
            </a:r>
            <a:endParaRPr xmlns:a="http://schemas.openxmlformats.org/drawingml/2006/main"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32A4D"/>
          </a:solidFill>
          <a:ln/>
        </p:spPr>
      </p:sp>
      <p:sp>
        <p:nvSpPr>
          <p:cNvPr id="127" name="Text 125"/>
          <p:cNvSpPr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b="1" dirty="0">
                <a:solidFill>
                  <a:srgbClr val="F2A93B"/>
                </a:solidFill>
              </a:rPr>
              <a:t>النتيجة: يمكن للشبكتين الوصول إلى بعضهما البعض ثنائياً عبر وصلة جهاز التوجيه.</a:t>
            </a:r>
            <a:endParaRPr xmlns:a="http://schemas.openxmlformats.org/drawingml/2006/main" lang="en-US" sz="1400" dirty="0"/>
          </a:p>
        </p:txBody>
      </p:sp>
      <p:sp>
        <p:nvSpPr>
          <p:cNvPr id="128" name="Text 1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6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تكوين نظام أسماء النطاقات (DNS)</a:t>
            </a:r>
            <a:endParaRPr xmlns:a="http://schemas.openxmlformats.org/drawingml/2006/main" lang="en-US" sz="3200" dirty="0"/>
          </a:p>
        </p:txBody>
      </p:sp>
      <p:sp>
        <p:nvSpPr>
          <p:cNvPr id="117" name="Text 115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AAB4C4"/>
                </a:solidFill>
              </a:rPr>
              <a:t>يقوم خادم كل قسم بتشغيل خدمة نظام أسماء النطاقات (DNS)، حيث يقوم بربط كل اسم جهاز في شبكته بعنوان IP الخاص به.</a:t>
            </a:r>
            <a:endParaRPr xmlns:a="http://schemas.openxmlformats.org/drawingml/2006/main"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548640" y="24688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22960" y="2651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b="1" dirty="0">
                <a:solidFill>
                  <a:srgbClr val="2FD8E0"/>
                </a:solidFill>
              </a:rPr>
              <a:t>الخادم 0 - علم البيانات</a:t>
            </a:r>
            <a:endParaRPr xmlns:a="http://schemas.openxmlformats.org/drawingml/2006/main" lang="en-US" sz="1500" dirty="0"/>
          </a:p>
        </p:txBody>
      </p:sp>
      <p:sp>
        <p:nvSpPr>
          <p:cNvPr id="120" name="Text 118"/>
          <p:cNvSpPr/>
          <p:nvPr/>
        </p:nvSpPr>
        <p:spPr>
          <a:xfrm>
            <a:off x="822960" y="3200400"/>
            <a:ext cx="2665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FFFFF"/>
                </a:solidFill>
              </a:rPr>
              <a:t>pc0 – pc6</a:t>
            </a:r>
            <a:endParaRPr xmlns:a="http://schemas.openxmlformats.org/drawingml/2006/main"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3488436" y="3200400"/>
            <a:ext cx="218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2A93B"/>
                </a:solidFill>
              </a:rPr>
              <a:t>192.168.10.2 – .8</a:t>
            </a:r>
            <a:endParaRPr xmlns:a="http://schemas.openxmlformats.org/drawingml/2006/main"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22960" y="3703320"/>
            <a:ext cx="4846320" cy="0"/>
          </a:xfrm>
          <a:prstGeom prst="line">
            <a:avLst/>
          </a:prstGeom>
          <a:noFill/>
          <a:ln w="9525">
            <a:solidFill>
              <a:srgbClr val="22415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22960" y="3886200"/>
            <a:ext cx="2665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FFFFF"/>
                </a:solidFill>
              </a:rPr>
              <a:t>خادم</a:t>
            </a:r>
            <a:endParaRPr xmlns:a="http://schemas.openxmlformats.org/drawingml/2006/main"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3488436" y="3886200"/>
            <a:ext cx="218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2A93B"/>
                </a:solidFill>
              </a:rPr>
              <a:t>192.168.10.10</a:t>
            </a:r>
            <a:endParaRPr xmlns:a="http://schemas.openxmlformats.org/drawingml/2006/main"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822960" y="4389120"/>
            <a:ext cx="4846320" cy="0"/>
          </a:xfrm>
          <a:prstGeom prst="line">
            <a:avLst/>
          </a:prstGeom>
          <a:noFill/>
          <a:ln w="9525">
            <a:solidFill>
              <a:srgbClr val="22415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22960" y="4572000"/>
            <a:ext cx="2665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FFFFF"/>
                </a:solidFill>
              </a:rPr>
              <a:t>server.datasci.local</a:t>
            </a:r>
            <a:endParaRPr xmlns:a="http://schemas.openxmlformats.org/drawingml/2006/main"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3488436" y="4572000"/>
            <a:ext cx="218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2A93B"/>
                </a:solidFill>
              </a:rPr>
              <a:t>192.168.10.10</a:t>
            </a:r>
            <a:endParaRPr xmlns:a="http://schemas.openxmlformats.org/drawingml/2006/main"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822960" y="5074920"/>
            <a:ext cx="4846320" cy="0"/>
          </a:xfrm>
          <a:prstGeom prst="line">
            <a:avLst/>
          </a:prstGeom>
          <a:noFill/>
          <a:ln w="9525">
            <a:solidFill>
              <a:srgbClr val="2241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17920" y="24688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92240" y="2651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500" b="1" dirty="0">
                <a:solidFill>
                  <a:srgbClr val="2FD8E0"/>
                </a:solidFill>
              </a:rPr>
              <a:t>الخادم 1 - علوم الحاسوب</a:t>
            </a:r>
            <a:endParaRPr xmlns:a="http://schemas.openxmlformats.org/drawingml/2006/main" lang="en-US" sz="1500" dirty="0"/>
          </a:p>
        </p:txBody>
      </p:sp>
      <p:sp>
        <p:nvSpPr>
          <p:cNvPr id="131" name="Text 129"/>
          <p:cNvSpPr/>
          <p:nvPr/>
        </p:nvSpPr>
        <p:spPr>
          <a:xfrm>
            <a:off x="6492240" y="3200400"/>
            <a:ext cx="2665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FFFFF"/>
                </a:solidFill>
              </a:rPr>
              <a:t>pc7 – pc13</a:t>
            </a:r>
            <a:endParaRPr xmlns:a="http://schemas.openxmlformats.org/drawingml/2006/main"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9157716" y="3200400"/>
            <a:ext cx="218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2A93B"/>
                </a:solidFill>
              </a:rPr>
              <a:t>192.168.20.2 – .8</a:t>
            </a:r>
            <a:endParaRPr xmlns:a="http://schemas.openxmlformats.org/drawingml/2006/main"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6492240" y="3703320"/>
            <a:ext cx="4846320" cy="0"/>
          </a:xfrm>
          <a:prstGeom prst="line">
            <a:avLst/>
          </a:prstGeom>
          <a:noFill/>
          <a:ln w="9525">
            <a:solidFill>
              <a:srgbClr val="22415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492240" y="3886200"/>
            <a:ext cx="2665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FFFFF"/>
                </a:solidFill>
              </a:rPr>
              <a:t>خادم</a:t>
            </a:r>
            <a:endParaRPr xmlns:a="http://schemas.openxmlformats.org/drawingml/2006/main" lang="en-US" sz="1300" dirty="0"/>
          </a:p>
        </p:txBody>
      </p:sp>
      <p:sp>
        <p:nvSpPr>
          <p:cNvPr id="135" name="Text 133"/>
          <p:cNvSpPr/>
          <p:nvPr/>
        </p:nvSpPr>
        <p:spPr>
          <a:xfrm>
            <a:off x="9157716" y="3886200"/>
            <a:ext cx="218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2A93B"/>
                </a:solidFill>
              </a:rPr>
              <a:t>192.168.20.9</a:t>
            </a:r>
            <a:endParaRPr xmlns:a="http://schemas.openxmlformats.org/drawingml/2006/main"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6492240" y="4389120"/>
            <a:ext cx="4846320" cy="0"/>
          </a:xfrm>
          <a:prstGeom prst="line">
            <a:avLst/>
          </a:prstGeom>
          <a:noFill/>
          <a:ln w="9525">
            <a:solidFill>
              <a:srgbClr val="22415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492240" y="4572000"/>
            <a:ext cx="2665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FFFFF"/>
                </a:solidFill>
              </a:rPr>
              <a:t>server.comp-sci.local</a:t>
            </a:r>
            <a:endParaRPr xmlns:a="http://schemas.openxmlformats.org/drawingml/2006/main" lang="en-US" sz="1300" dirty="0"/>
          </a:p>
        </p:txBody>
      </p:sp>
      <p:sp>
        <p:nvSpPr>
          <p:cNvPr id="138" name="Text 136"/>
          <p:cNvSpPr/>
          <p:nvPr/>
        </p:nvSpPr>
        <p:spPr>
          <a:xfrm>
            <a:off x="9157716" y="4572000"/>
            <a:ext cx="218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F2A93B"/>
                </a:solidFill>
              </a:rPr>
              <a:t>192.168.20.9</a:t>
            </a:r>
            <a:endParaRPr xmlns:a="http://schemas.openxmlformats.org/drawingml/2006/main"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6492240" y="5074920"/>
            <a:ext cx="4846320" cy="0"/>
          </a:xfrm>
          <a:prstGeom prst="line">
            <a:avLst/>
          </a:prstGeom>
          <a:noFill/>
          <a:ln w="9525">
            <a:solidFill>
              <a:srgbClr val="22415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7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الاتصال (Ping) - ضمن نفس الشبكة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32A4D"/>
          </a:solidFill>
          <a:ln/>
        </p:spPr>
      </p:sp>
      <p:sp>
        <p:nvSpPr>
          <p:cNvPr id="118" name="Text 116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من جهاز الكمبيوتر PC9، يتم حل اسم الجهاز "Pc10" واختبار الاتصال به (عبر نظام أسماء النطاقات DNS).</a:t>
            </a:r>
            <a:endParaRPr xmlns:a="http://schemas.openxmlformats.org/drawingml/2006/main" lang="en-US" sz="1700" dirty="0"/>
          </a:p>
        </p:txBody>
      </p:sp>
      <p:sp>
        <p:nvSpPr>
          <p:cNvPr id="119" name="Shape 117"/>
          <p:cNvSpPr/>
          <p:nvPr/>
        </p:nvSpPr>
        <p:spPr>
          <a:xfrm>
            <a:off x="548640" y="301752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081522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C:\&gt;nslookup Pc10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الخادم: [192.168.20.8] العنوان: 192.168.20.8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إجابة غير رسمية: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الاسم: pc10 العنوان: 192.168.20.3</a:t>
            </a:r>
            <a:endParaRPr xmlns:a="http://schemas.openxmlformats.org/drawingml/2006/main"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Pc10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إرسال طلب اختبار اتصال إلى 192.168.20.3 باستخدام 32 بايت من البيانات: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الرد من 192.168.20.3: عدد البايتات = 32، الوقت &lt; 1 مللي ثانية، قيمة TTL = 128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الرد من 192.168.20.3: عدد البايتات = 32، الوقت &lt; 1 مللي ثانية، قيمة TTL = 128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الحزم: المرسلة = 4، المستلمة = 4، المفقودة = 0 (نسبة الفقد 0%)</a:t>
            </a:r>
            <a:endParaRPr xmlns:a="http://schemas.openxmlformats.org/drawingml/2006/main"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8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الاتصال (Ping) بين الشبكات المختلفة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32A4D"/>
          </a:solidFill>
          <a:ln/>
        </p:spPr>
      </p:sp>
      <p:sp>
        <p:nvSpPr>
          <p:cNvPr id="118" name="Text 116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من PC0 (علوم البيانات) إلى 192.168.20.2 (علوم الحاسوب) عبر عنوان IP</a:t>
            </a:r>
            <a:endParaRPr xmlns:a="http://schemas.openxmlformats.org/drawingml/2006/main" lang="en-US" sz="1700" dirty="0"/>
          </a:p>
        </p:txBody>
      </p:sp>
      <p:sp>
        <p:nvSpPr>
          <p:cNvPr id="119" name="Shape 117"/>
          <p:cNvSpPr/>
          <p:nvPr/>
        </p:nvSpPr>
        <p:spPr>
          <a:xfrm>
            <a:off x="548640" y="301752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81522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2960" y="320040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192.168.20.2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إرسال طلب اختبار اتصال (ping) إلى 192.168.20.2 باستخدام 32 بايت من البيانات: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الرد من 192.168.20.2: عدد البايتات = 32، الوقت = 26 مللي ثانية، قيمة TTL = 126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الرد من 192.168.20.2: عدد البايتات = 32، الوقت = 42 مللي ثانية، قيمة TTL = 126</a:t>
            </a:r>
            <a:endParaRPr xmlns:a="http://schemas.openxmlformats.org/drawingml/2006/main" lang="en-US" sz="1300" dirty="0"/>
          </a:p>
          <a:p>
            <a:pPr xmlns:a="http://schemas.openxmlformats.org/drawingml/2006/main" indent="0" marL="0">
              <a:lnSpc>
                <a:spcPct val="115000"/>
              </a:lnSpc>
              <a:buNone/>
              <a:bidi/>
            </a:pPr>
            <a:r xmlns:a="http://schemas.openxmlformats.org/drawingml/2006/main">
              <a:rPr lang="ar" sz="1300" dirty="0">
                <a:solidFill>
                  <a:srgbClr val="3F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الحزم: المرسلة = 4، المستلمة = 4، المفقودة = 0 (نسبة الفقد 0%)</a:t>
            </a:r>
            <a:endParaRPr xmlns:a="http://schemas.openxmlformats.org/drawingml/2006/main"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548640" y="5577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32A4D"/>
          </a:solidFill>
          <a:ln/>
        </p:spPr>
      </p:sp>
      <p:sp>
        <p:nvSpPr>
          <p:cNvPr id="122" name="Text 120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i="1" dirty="0">
                <a:solidFill>
                  <a:srgbClr val="F2A93B"/>
                </a:solidFill>
              </a:rPr>
              <a:t>TTL = 126 (مقابل 128 لحركة المرور المحلية) يؤكد أن الحزمة مرت عبر قفزة واحدة لجهاز التوجيه بين الشبكات.</a:t>
            </a:r>
            <a:endParaRPr xmlns:a="http://schemas.openxmlformats.org/drawingml/2006/main"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9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7200" y="3657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8F96"/>
          </a:solidFill>
          <a:ln/>
        </p:spPr>
      </p:sp>
      <p:sp>
        <p:nvSpPr>
          <p:cNvPr id="115" name="Text 113"/>
          <p:cNvSpPr/>
          <p:nvPr/>
        </p:nvSpPr>
        <p:spPr>
          <a:xfrm>
            <a:off x="457200" y="365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  <a:bidi/>
            </a:pPr>
            <a:r xmlns:a="http://schemas.openxmlformats.org/drawingml/2006/main">
              <a:rPr lang="ar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</a:t>
            </a:r>
            <a:endParaRPr xmlns:a="http://schemas.openxmlformats.org/drawingml/2006/main"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خاتمة</a:t>
            </a:r>
            <a:endParaRPr xmlns:a="http://schemas.openxmlformats.org/drawingml/2006/main" lang="en-US" sz="3200" dirty="0"/>
          </a:p>
        </p:txBody>
      </p:sp>
      <p:sp>
        <p:nvSpPr>
          <p:cNvPr id="117" name="Shape 115"/>
          <p:cNvSpPr/>
          <p:nvPr/>
        </p:nvSpPr>
        <p:spPr>
          <a:xfrm>
            <a:off x="640080" y="2029968"/>
            <a:ext cx="146304" cy="146304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5840" y="19202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تم تصميم شبكتين إداريتين مستقلتين وربطهما بالكامل</a:t>
            </a:r>
            <a:endParaRPr xmlns:a="http://schemas.openxmlformats.org/drawingml/2006/main" lang="en-US" sz="1700" dirty="0"/>
          </a:p>
        </p:txBody>
      </p:sp>
      <p:sp>
        <p:nvSpPr>
          <p:cNvPr id="119" name="Shape 117"/>
          <p:cNvSpPr/>
          <p:nvPr/>
        </p:nvSpPr>
        <p:spPr>
          <a:xfrm>
            <a:off x="640080" y="2651760"/>
            <a:ext cx="146304" cy="146304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0" name="Text 118"/>
          <p:cNvSpPr/>
          <p:nvPr/>
        </p:nvSpPr>
        <p:spPr>
          <a:xfrm>
            <a:off x="1005840" y="25420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يتيح التوجيه الثابت اتصالاً ثنائي الاتجاه كاملاً بين الأقسام</a:t>
            </a:r>
            <a:endParaRPr xmlns:a="http://schemas.openxmlformats.org/drawingml/2006/main" lang="en-US" sz="1700" dirty="0"/>
          </a:p>
        </p:txBody>
      </p:sp>
      <p:sp>
        <p:nvSpPr>
          <p:cNvPr id="121" name="Shape 119"/>
          <p:cNvSpPr/>
          <p:nvPr/>
        </p:nvSpPr>
        <p:spPr>
          <a:xfrm>
            <a:off x="640080" y="3273552"/>
            <a:ext cx="146304" cy="146304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2" name="Text 120"/>
          <p:cNvSpPr/>
          <p:nvPr/>
        </p:nvSpPr>
        <p:spPr>
          <a:xfrm>
            <a:off x="1005840" y="316382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يعمل تحليل نظام أسماء النطاقات (DNS) بشكل صحيح داخل كل شبكة</a:t>
            </a:r>
            <a:endParaRPr xmlns:a="http://schemas.openxmlformats.org/drawingml/2006/main" lang="en-US" sz="1700" dirty="0"/>
          </a:p>
        </p:txBody>
      </p:sp>
      <p:sp>
        <p:nvSpPr>
          <p:cNvPr id="123" name="Shape 121"/>
          <p:cNvSpPr/>
          <p:nvPr/>
        </p:nvSpPr>
        <p:spPr>
          <a:xfrm>
            <a:off x="640080" y="3895344"/>
            <a:ext cx="146304" cy="146304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5840" y="378561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اجتازت جميع اختبارات الاتصال المطلوبة بنجاح بنسبة فقدان حزم بيانات 0%</a:t>
            </a:r>
            <a:endParaRPr xmlns:a="http://schemas.openxmlformats.org/drawingml/2006/main" lang="en-US" sz="1700" dirty="0"/>
          </a:p>
        </p:txBody>
      </p:sp>
      <p:sp>
        <p:nvSpPr>
          <p:cNvPr id="125" name="Shape 123"/>
          <p:cNvSpPr/>
          <p:nvPr/>
        </p:nvSpPr>
        <p:spPr>
          <a:xfrm>
            <a:off x="640080" y="4517136"/>
            <a:ext cx="146304" cy="146304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6" name="Text 124"/>
          <p:cNvSpPr/>
          <p:nvPr/>
        </p:nvSpPr>
        <p:spPr>
          <a:xfrm>
            <a:off x="1005840" y="44074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700" dirty="0">
                <a:solidFill>
                  <a:srgbClr val="FFFFFF"/>
                </a:solidFill>
              </a:rPr>
              <a:t>يعكس التصميم ممارسات تجزئة الشبكات في العالم الحقيقي</a:t>
            </a:r>
            <a:endParaRPr xmlns:a="http://schemas.openxmlformats.org/drawingml/2006/main" lang="en-US" sz="1700" dirty="0"/>
          </a:p>
        </p:txBody>
      </p:sp>
      <p:sp>
        <p:nvSpPr>
          <p:cNvPr id="127" name="Shape 125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324F"/>
          </a:solidFill>
          <a:ln w="12700">
            <a:solidFill>
              <a:srgbClr val="1B8F9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22960" y="5257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400" dirty="0">
                <a:solidFill>
                  <a:srgbClr val="AAB4C4"/>
                </a:solidFill>
              </a:rPr>
              <a:t>المخرجات: ملف Packet Tracer (.pkt) · تقرير المشروع (.docx) · عرض تقديمي (.pptx)</a:t>
            </a:r>
            <a:endParaRPr xmlns:a="http://schemas.openxmlformats.org/drawingml/2006/main"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  <a:bidi/>
            </a:pPr>
            <a:r xmlns:a="http://schemas.openxmlformats.org/drawingml/2006/main">
              <a:rPr lang="ar" sz="1000" dirty="0">
                <a:solidFill>
                  <a:srgbClr val="AAB4C4"/>
                </a:solidFill>
              </a:rPr>
              <a:t>10</a:t>
            </a:r>
            <a:endParaRPr xmlns:a="http://schemas.openxmlformats.org/drawingml/2006/main"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011680" y="5120640"/>
            <a:ext cx="1188720" cy="45720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011680" y="5120640"/>
            <a:ext cx="-548640" cy="73152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200400" y="5577840"/>
            <a:ext cx="-457200" cy="73152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63040" y="5852160"/>
            <a:ext cx="1280160" cy="457200"/>
          </a:xfrm>
          <a:prstGeom prst="line">
            <a:avLst/>
          </a:prstGeom>
          <a:noFill/>
          <a:ln w="15240">
            <a:solidFill>
              <a:srgbClr val="1B8F9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956816" y="506577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145536" y="552297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408176" y="579729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688336" y="6254496"/>
            <a:ext cx="109728" cy="109728"/>
          </a:xfrm>
          <a:prstGeom prst="ellipse">
            <a:avLst/>
          </a:prstGeom>
          <a:solidFill>
            <a:srgbClr val="2FD8E0"/>
          </a:solidFill>
          <a:ln/>
        </p:spPr>
      </p:sp>
      <p:sp>
        <p:nvSpPr>
          <p:cNvPr id="122" name="Text 120"/>
          <p:cNvSpPr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</a:t>
            </a:r>
            <a:endParaRPr xmlns:a="http://schemas.openxmlformats.org/drawingml/2006/main" lang="en-US" sz="4400" dirty="0"/>
          </a:p>
        </p:txBody>
      </p:sp>
      <p:sp>
        <p:nvSpPr>
          <p:cNvPr id="123" name="Text 121"/>
          <p:cNvSpPr/>
          <p:nvPr/>
        </p:nvSpPr>
        <p:spPr>
          <a:xfrm>
            <a:off x="64008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dirty="0">
                <a:solidFill>
                  <a:srgbClr val="2FD8E0"/>
                </a:solidFill>
              </a:rPr>
              <a:t>مشروع شبكة الكليات - أقسام علوم الحاسوب وعلوم البيانات</a:t>
            </a:r>
            <a:endParaRPr xmlns:a="http://schemas.openxmlformats.org/drawingml/2006/main"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640080" y="3931920"/>
            <a:ext cx="2743200" cy="0"/>
          </a:xfrm>
          <a:prstGeom prst="line">
            <a:avLst/>
          </a:prstGeom>
          <a:noFill/>
          <a:ln w="19050">
            <a:solidFill>
              <a:srgbClr val="1B8F9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600" b="1" dirty="0">
                <a:solidFill>
                  <a:srgbClr val="FFFFFF"/>
                </a:solidFill>
              </a:rPr>
              <a:t>أسيل العنزي</a:t>
            </a:r>
            <a:endParaRPr xmlns:a="http://schemas.openxmlformats.org/drawingml/2006/main"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  <a:bidi/>
            </a:pPr>
            <a:r xmlns:a="http://schemas.openxmlformats.org/drawingml/2006/main">
              <a:rPr lang="ar" sz="1300" dirty="0">
                <a:solidFill>
                  <a:srgbClr val="AAB4C4"/>
                </a:solidFill>
              </a:rPr>
              <a:t>github.com/Aaseel11 · linkedin.com/in/aseel-alanazi410</a:t>
            </a:r>
            <a:endParaRPr xmlns:a="http://schemas.openxmlformats.org/drawingml/2006/main"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2026-08-14T23:13:12Z</dcterms:created>
  <dcterms:modified xsi:type="dcterms:W3CDTF">2026-08-14T23:13:12Z</dcterms:modified>
</cp:coreProperties>
</file>