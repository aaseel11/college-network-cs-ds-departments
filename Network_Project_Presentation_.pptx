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53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3552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418320" y="640080"/>
            <a:ext cx="946404" cy="630936"/>
          </a:xfrm>
          <a:prstGeom prst="line">
            <a:avLst/>
          </a:prstGeom>
          <a:noFill/>
          <a:ln w="12700">
            <a:solidFill>
              <a:srgbClr val="3D5A80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64724" y="640080"/>
            <a:ext cx="1051560" cy="420624"/>
          </a:xfrm>
          <a:prstGeom prst="line">
            <a:avLst/>
          </a:prstGeom>
          <a:noFill/>
          <a:ln w="12700">
            <a:solidFill>
              <a:srgbClr val="3D5A80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5348" y="1060704"/>
            <a:ext cx="630936" cy="946404"/>
          </a:xfrm>
          <a:prstGeom prst="line">
            <a:avLst/>
          </a:prstGeom>
          <a:noFill/>
          <a:ln w="12700">
            <a:solidFill>
              <a:srgbClr val="3D5A80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33788" y="2007108"/>
            <a:ext cx="1051560" cy="210312"/>
          </a:xfrm>
          <a:prstGeom prst="line">
            <a:avLst/>
          </a:prstGeom>
          <a:noFill/>
          <a:ln w="12700">
            <a:solidFill>
              <a:srgbClr val="3D5A80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9418320" y="1271016"/>
            <a:ext cx="315468" cy="946404"/>
          </a:xfrm>
          <a:prstGeom prst="line">
            <a:avLst/>
          </a:prstGeom>
          <a:noFill/>
          <a:ln w="12700">
            <a:solidFill>
              <a:srgbClr val="3D5A80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9418320" y="1060704"/>
            <a:ext cx="1997964" cy="210312"/>
          </a:xfrm>
          <a:prstGeom prst="line">
            <a:avLst/>
          </a:prstGeom>
          <a:noFill/>
          <a:ln w="12700">
            <a:solidFill>
              <a:srgbClr val="3D5A80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72600" y="1225296"/>
            <a:ext cx="91440" cy="91440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9" name="Shape 7"/>
          <p:cNvSpPr/>
          <p:nvPr/>
        </p:nvSpPr>
        <p:spPr>
          <a:xfrm>
            <a:off x="10319004" y="594360"/>
            <a:ext cx="91440" cy="91440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10" name="Shape 8"/>
          <p:cNvSpPr/>
          <p:nvPr/>
        </p:nvSpPr>
        <p:spPr>
          <a:xfrm>
            <a:off x="11370564" y="1014984"/>
            <a:ext cx="91440" cy="91440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11" name="Shape 9"/>
          <p:cNvSpPr/>
          <p:nvPr/>
        </p:nvSpPr>
        <p:spPr>
          <a:xfrm>
            <a:off x="10739628" y="1961388"/>
            <a:ext cx="91440" cy="91440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12" name="Shape 10"/>
          <p:cNvSpPr/>
          <p:nvPr/>
        </p:nvSpPr>
        <p:spPr>
          <a:xfrm>
            <a:off x="9688068" y="2171700"/>
            <a:ext cx="91440" cy="91440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417320"/>
            <a:ext cx="2468880" cy="384048"/>
          </a:xfrm>
          <a:prstGeom prst="rect">
            <a:avLst/>
          </a:prstGeom>
          <a:solidFill>
            <a:srgbClr val="23345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4173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DESIGN PROJECT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196596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College Network Project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548640" y="2880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the Data Science and Computer Science Departments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4754880" cy="0"/>
          </a:xfrm>
          <a:prstGeom prst="line">
            <a:avLst/>
          </a:prstGeom>
          <a:noFill/>
          <a:ln w="12700">
            <a:solidFill>
              <a:srgbClr val="3D5A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3035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4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Aseel Alanzi
</a:t>
            </a:r>
            <a:r>
              <a:rPr lang="en-US" sz="12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Department · University of Hail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943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Cisco Packet Tracer   |   November 2025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20040"/>
            <a:ext cx="384048" cy="384048"/>
          </a:xfrm>
          <a:prstGeom prst="line">
            <a:avLst/>
          </a:prstGeom>
          <a:noFill/>
          <a:ln w="12700">
            <a:solidFill>
              <a:srgbClr val="C7D1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94008" y="374904"/>
            <a:ext cx="384048" cy="329184"/>
          </a:xfrm>
          <a:prstGeom prst="line">
            <a:avLst/>
          </a:prstGeom>
          <a:noFill/>
          <a:ln w="12700">
            <a:solidFill>
              <a:srgbClr val="C7D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274552" y="704088"/>
            <a:ext cx="219456" cy="384048"/>
          </a:xfrm>
          <a:prstGeom prst="line">
            <a:avLst/>
          </a:prstGeom>
          <a:noFill/>
          <a:ln w="12700">
            <a:solidFill>
              <a:srgbClr val="C7D1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8812" y="278892"/>
            <a:ext cx="82296" cy="82296"/>
          </a:xfrm>
          <a:prstGeom prst="ellipse">
            <a:avLst/>
          </a:prstGeom>
          <a:solidFill>
            <a:srgbClr val="C7D1E0"/>
          </a:solidFill>
          <a:ln/>
        </p:spPr>
      </p:sp>
      <p:sp>
        <p:nvSpPr>
          <p:cNvPr id="6" name="Shape 4"/>
          <p:cNvSpPr/>
          <p:nvPr/>
        </p:nvSpPr>
        <p:spPr>
          <a:xfrm>
            <a:off x="11836908" y="333756"/>
            <a:ext cx="82296" cy="82296"/>
          </a:xfrm>
          <a:prstGeom prst="ellipse">
            <a:avLst/>
          </a:prstGeom>
          <a:solidFill>
            <a:srgbClr val="C7D1E0"/>
          </a:solidFill>
          <a:ln/>
        </p:spPr>
      </p:sp>
      <p:sp>
        <p:nvSpPr>
          <p:cNvPr id="7" name="Shape 5"/>
          <p:cNvSpPr/>
          <p:nvPr/>
        </p:nvSpPr>
        <p:spPr>
          <a:xfrm>
            <a:off x="11233404" y="1046988"/>
            <a:ext cx="82296" cy="82296"/>
          </a:xfrm>
          <a:prstGeom prst="ellipse">
            <a:avLst/>
          </a:prstGeom>
          <a:solidFill>
            <a:srgbClr val="C7D1E0"/>
          </a:solidFill>
          <a:ln/>
        </p:spPr>
      </p:sp>
      <p:sp>
        <p:nvSpPr>
          <p:cNvPr id="8" name="Shape 6"/>
          <p:cNvSpPr/>
          <p:nvPr/>
        </p:nvSpPr>
        <p:spPr>
          <a:xfrm>
            <a:off x="11411712" y="62179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EE6C4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155448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configure two interconnected departmental networks within the College of Computer Science at the University of Hail — one for the Data Science Department and another for the Computer Science Department — using Cisco Packet Tracer.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demonstrates core networking concepts: IP addressing, DNS configuration, static routing, and inter-network communication through routers.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0" y="1554480"/>
            <a:ext cx="4297680" cy="788670"/>
          </a:xfrm>
          <a:prstGeom prst="rect">
            <a:avLst/>
          </a:prstGeom>
          <a:solidFill>
            <a:srgbClr val="F1F4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1554480"/>
            <a:ext cx="12801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6C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915400" y="1554480"/>
            <a:ext cx="24231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0" y="2571750"/>
            <a:ext cx="4297680" cy="788670"/>
          </a:xfrm>
          <a:prstGeom prst="rect">
            <a:avLst/>
          </a:prstGeom>
          <a:solidFill>
            <a:srgbClr val="F1F4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2571750"/>
            <a:ext cx="12801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6C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915400" y="2571750"/>
            <a:ext cx="24231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0" y="3589020"/>
            <a:ext cx="4297680" cy="788670"/>
          </a:xfrm>
          <a:prstGeom prst="rect">
            <a:avLst/>
          </a:prstGeom>
          <a:solidFill>
            <a:srgbClr val="F1F4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0" y="3589020"/>
            <a:ext cx="12801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6C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915400" y="3589020"/>
            <a:ext cx="24231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DEVICES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0" y="4606290"/>
            <a:ext cx="4297680" cy="788670"/>
          </a:xfrm>
          <a:prstGeom prst="rect">
            <a:avLst/>
          </a:prstGeom>
          <a:solidFill>
            <a:srgbClr val="F1F4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4606290"/>
            <a:ext cx="12801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6C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8915400" y="4606290"/>
            <a:ext cx="2423160" cy="788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SERVERS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20040"/>
            <a:ext cx="384048" cy="384048"/>
          </a:xfrm>
          <a:prstGeom prst="line">
            <a:avLst/>
          </a:prstGeom>
          <a:noFill/>
          <a:ln w="12700">
            <a:solidFill>
              <a:srgbClr val="C7D1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94008" y="374904"/>
            <a:ext cx="384048" cy="329184"/>
          </a:xfrm>
          <a:prstGeom prst="line">
            <a:avLst/>
          </a:prstGeom>
          <a:noFill/>
          <a:ln w="12700">
            <a:solidFill>
              <a:srgbClr val="C7D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274552" y="704088"/>
            <a:ext cx="219456" cy="384048"/>
          </a:xfrm>
          <a:prstGeom prst="line">
            <a:avLst/>
          </a:prstGeom>
          <a:noFill/>
          <a:ln w="12700">
            <a:solidFill>
              <a:srgbClr val="C7D1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8812" y="278892"/>
            <a:ext cx="82296" cy="82296"/>
          </a:xfrm>
          <a:prstGeom prst="ellipse">
            <a:avLst/>
          </a:prstGeom>
          <a:solidFill>
            <a:srgbClr val="C7D1E0"/>
          </a:solidFill>
          <a:ln/>
        </p:spPr>
      </p:sp>
      <p:sp>
        <p:nvSpPr>
          <p:cNvPr id="6" name="Shape 4"/>
          <p:cNvSpPr/>
          <p:nvPr/>
        </p:nvSpPr>
        <p:spPr>
          <a:xfrm>
            <a:off x="11836908" y="333756"/>
            <a:ext cx="82296" cy="82296"/>
          </a:xfrm>
          <a:prstGeom prst="ellipse">
            <a:avLst/>
          </a:prstGeom>
          <a:solidFill>
            <a:srgbClr val="C7D1E0"/>
          </a:solidFill>
          <a:ln/>
        </p:spPr>
      </p:sp>
      <p:sp>
        <p:nvSpPr>
          <p:cNvPr id="7" name="Shape 5"/>
          <p:cNvSpPr/>
          <p:nvPr/>
        </p:nvSpPr>
        <p:spPr>
          <a:xfrm>
            <a:off x="11233404" y="1046988"/>
            <a:ext cx="82296" cy="82296"/>
          </a:xfrm>
          <a:prstGeom prst="ellipse">
            <a:avLst/>
          </a:prstGeom>
          <a:solidFill>
            <a:srgbClr val="C7D1E0"/>
          </a:solidFill>
          <a:ln/>
        </p:spPr>
      </p:sp>
      <p:sp>
        <p:nvSpPr>
          <p:cNvPr id="8" name="Shape 6"/>
          <p:cNvSpPr/>
          <p:nvPr/>
        </p:nvSpPr>
        <p:spPr>
          <a:xfrm>
            <a:off x="11411712" y="62179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EE6C4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Requirements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85520" y="137160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two separate Class C networks, one per department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2679192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532888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both networks using two routers with a Serial connection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758184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758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3529584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IP addresses to all router interfaces, servers, and PCs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837176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837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4626864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 DNS server in each network to resolve device names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46520" y="1600200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67728" y="1357885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connectivity within the same network using device names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446520" y="2679192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03720" y="2455164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connectivity between networks using IP addresses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46520" y="3758184"/>
            <a:ext cx="457200" cy="457200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3758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03720" y="3506724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clear labels and organize the topology for readability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A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20040"/>
            <a:ext cx="384048" cy="384048"/>
          </a:xfrm>
          <a:prstGeom prst="line">
            <a:avLst/>
          </a:prstGeom>
          <a:noFill/>
          <a:ln w="12700">
            <a:solidFill>
              <a:srgbClr val="C7D1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94008" y="374904"/>
            <a:ext cx="384048" cy="329184"/>
          </a:xfrm>
          <a:prstGeom prst="line">
            <a:avLst/>
          </a:prstGeom>
          <a:noFill/>
          <a:ln w="12700">
            <a:solidFill>
              <a:srgbClr val="C7D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274552" y="704088"/>
            <a:ext cx="219456" cy="384048"/>
          </a:xfrm>
          <a:prstGeom prst="line">
            <a:avLst/>
          </a:prstGeom>
          <a:noFill/>
          <a:ln w="12700">
            <a:solidFill>
              <a:srgbClr val="C7D1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8812" y="278892"/>
            <a:ext cx="82296" cy="82296"/>
          </a:xfrm>
          <a:prstGeom prst="ellipse">
            <a:avLst/>
          </a:prstGeom>
          <a:solidFill>
            <a:srgbClr val="C7D1E0"/>
          </a:solidFill>
          <a:ln/>
        </p:spPr>
      </p:sp>
      <p:sp>
        <p:nvSpPr>
          <p:cNvPr id="6" name="Shape 4"/>
          <p:cNvSpPr/>
          <p:nvPr/>
        </p:nvSpPr>
        <p:spPr>
          <a:xfrm>
            <a:off x="11836908" y="333756"/>
            <a:ext cx="82296" cy="82296"/>
          </a:xfrm>
          <a:prstGeom prst="ellipse">
            <a:avLst/>
          </a:prstGeom>
          <a:solidFill>
            <a:srgbClr val="C7D1E0"/>
          </a:solidFill>
          <a:ln/>
        </p:spPr>
      </p:sp>
      <p:sp>
        <p:nvSpPr>
          <p:cNvPr id="7" name="Shape 5"/>
          <p:cNvSpPr/>
          <p:nvPr/>
        </p:nvSpPr>
        <p:spPr>
          <a:xfrm>
            <a:off x="11233404" y="1046988"/>
            <a:ext cx="82296" cy="82296"/>
          </a:xfrm>
          <a:prstGeom prst="ellipse">
            <a:avLst/>
          </a:prstGeom>
          <a:solidFill>
            <a:srgbClr val="C7D1E0"/>
          </a:solidFill>
          <a:ln/>
        </p:spPr>
      </p:sp>
      <p:sp>
        <p:nvSpPr>
          <p:cNvPr id="8" name="Shape 6"/>
          <p:cNvSpPr/>
          <p:nvPr/>
        </p:nvSpPr>
        <p:spPr>
          <a:xfrm>
            <a:off x="11411712" y="62179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EE6C4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Design Overview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48640" y="1691640"/>
            <a:ext cx="3520440" cy="2286000"/>
          </a:xfrm>
          <a:prstGeom prst="rect">
            <a:avLst/>
          </a:prstGeom>
          <a:solidFill>
            <a:srgbClr val="F1F4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691640"/>
            <a:ext cx="3520440" cy="50292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6916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23774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Dept.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92608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192.168.10.0/24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4389120" y="1691640"/>
            <a:ext cx="3520440" cy="2286000"/>
          </a:xfrm>
          <a:prstGeom prst="rect">
            <a:avLst/>
          </a:prstGeom>
          <a:solidFill>
            <a:srgbClr val="F1F4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1691640"/>
            <a:ext cx="3520440" cy="50292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16916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B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89120" y="23774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Dept.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0" y="292608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192.168.20.0/24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8229600" y="1691640"/>
            <a:ext cx="3520440" cy="2286000"/>
          </a:xfrm>
          <a:prstGeom prst="rect">
            <a:avLst/>
          </a:prstGeom>
          <a:solidFill>
            <a:srgbClr val="F1F4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1691640"/>
            <a:ext cx="3520440" cy="502920"/>
          </a:xfrm>
          <a:prstGeom prst="rect">
            <a:avLst/>
          </a:prstGeom>
          <a:solidFill>
            <a:srgbClr val="EE6C4D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0" y="16916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Link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0" y="23774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Router-to-Router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0" y="292608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10.10.10.0/30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548640" y="4343400"/>
            <a:ext cx="11201400" cy="77724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343400"/>
            <a:ext cx="10652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Devices  =  </a:t>
            </a:r>
            <a:r>
              <a:rPr lang="en-US" sz="13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Routers + 2 Switches + 2 DNS Servers + 14 PCs (7 per department)  =  </a:t>
            </a:r>
            <a:r>
              <a:rPr lang="en-US" sz="135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Devices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20040"/>
            <a:ext cx="384048" cy="384048"/>
          </a:xfrm>
          <a:prstGeom prst="line">
            <a:avLst/>
          </a:prstGeom>
          <a:noFill/>
          <a:ln w="12700">
            <a:solidFill>
              <a:srgbClr val="C7D1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94008" y="374904"/>
            <a:ext cx="384048" cy="329184"/>
          </a:xfrm>
          <a:prstGeom prst="line">
            <a:avLst/>
          </a:prstGeom>
          <a:noFill/>
          <a:ln w="12700">
            <a:solidFill>
              <a:srgbClr val="C7D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274552" y="704088"/>
            <a:ext cx="219456" cy="384048"/>
          </a:xfrm>
          <a:prstGeom prst="line">
            <a:avLst/>
          </a:prstGeom>
          <a:noFill/>
          <a:ln w="12700">
            <a:solidFill>
              <a:srgbClr val="C7D1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8812" y="278892"/>
            <a:ext cx="82296" cy="82296"/>
          </a:xfrm>
          <a:prstGeom prst="ellipse">
            <a:avLst/>
          </a:prstGeom>
          <a:solidFill>
            <a:srgbClr val="C7D1E0"/>
          </a:solidFill>
          <a:ln/>
        </p:spPr>
      </p:sp>
      <p:sp>
        <p:nvSpPr>
          <p:cNvPr id="6" name="Shape 4"/>
          <p:cNvSpPr/>
          <p:nvPr/>
        </p:nvSpPr>
        <p:spPr>
          <a:xfrm>
            <a:off x="11836908" y="333756"/>
            <a:ext cx="82296" cy="82296"/>
          </a:xfrm>
          <a:prstGeom prst="ellipse">
            <a:avLst/>
          </a:prstGeom>
          <a:solidFill>
            <a:srgbClr val="C7D1E0"/>
          </a:solidFill>
          <a:ln/>
        </p:spPr>
      </p:sp>
      <p:sp>
        <p:nvSpPr>
          <p:cNvPr id="7" name="Shape 5"/>
          <p:cNvSpPr/>
          <p:nvPr/>
        </p:nvSpPr>
        <p:spPr>
          <a:xfrm>
            <a:off x="11233404" y="1046988"/>
            <a:ext cx="82296" cy="82296"/>
          </a:xfrm>
          <a:prstGeom prst="ellipse">
            <a:avLst/>
          </a:prstGeom>
          <a:solidFill>
            <a:srgbClr val="C7D1E0"/>
          </a:solidFill>
          <a:ln/>
        </p:spPr>
      </p:sp>
      <p:sp>
        <p:nvSpPr>
          <p:cNvPr id="8" name="Shape 6"/>
          <p:cNvSpPr/>
          <p:nvPr/>
        </p:nvSpPr>
        <p:spPr>
          <a:xfrm>
            <a:off x="11411712" y="62179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EE6C4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Topology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16002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Department — 192.168.10.0/24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63640" y="16002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Department — 192.168.20.0/24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103120"/>
            <a:ext cx="5394960" cy="3246120"/>
          </a:xfrm>
          <a:prstGeom prst="rect">
            <a:avLst/>
          </a:prstGeom>
          <a:solidFill>
            <a:srgbClr val="F1F4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2103120"/>
            <a:ext cx="5394960" cy="3246120"/>
          </a:xfrm>
          <a:prstGeom prst="rect">
            <a:avLst/>
          </a:prstGeom>
          <a:solidFill>
            <a:srgbClr val="F1F4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88920" y="242316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16233F"/>
          </a:solidFill>
          <a:ln/>
        </p:spPr>
      </p:sp>
      <p:sp>
        <p:nvSpPr>
          <p:cNvPr id="16" name="Text 14"/>
          <p:cNvSpPr/>
          <p:nvPr/>
        </p:nvSpPr>
        <p:spPr>
          <a:xfrm>
            <a:off x="2788920" y="24231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503920" y="242316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16233F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24231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703320" y="2670048"/>
            <a:ext cx="4800600" cy="914"/>
          </a:xfrm>
          <a:prstGeom prst="line">
            <a:avLst/>
          </a:prstGeom>
          <a:noFill/>
          <a:ln w="25400">
            <a:solidFill>
              <a:srgbClr val="EE6C4D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3703320" y="2130552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10.10.10.0/30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651760" y="333756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3D5A80"/>
          </a:solidFill>
          <a:ln/>
        </p:spPr>
      </p:sp>
      <p:sp>
        <p:nvSpPr>
          <p:cNvPr id="22" name="Text 20"/>
          <p:cNvSpPr/>
          <p:nvPr/>
        </p:nvSpPr>
        <p:spPr>
          <a:xfrm>
            <a:off x="2651760" y="333756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66760" y="3337560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3D5A80"/>
          </a:solidFill>
          <a:ln/>
        </p:spPr>
      </p:sp>
      <p:sp>
        <p:nvSpPr>
          <p:cNvPr id="24" name="Text 22"/>
          <p:cNvSpPr/>
          <p:nvPr/>
        </p:nvSpPr>
        <p:spPr>
          <a:xfrm>
            <a:off x="8366760" y="333756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2926080"/>
            <a:ext cx="914" cy="411480"/>
          </a:xfrm>
          <a:prstGeom prst="line">
            <a:avLst/>
          </a:prstGeom>
          <a:noFill/>
          <a:ln w="19050">
            <a:solidFill>
              <a:srgbClr val="6B7A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61120" y="2926080"/>
            <a:ext cx="914" cy="411480"/>
          </a:xfrm>
          <a:prstGeom prst="line">
            <a:avLst/>
          </a:prstGeom>
          <a:noFill/>
          <a:ln w="19050">
            <a:solidFill>
              <a:srgbClr val="6B7A8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57400" y="402336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57400" y="4023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× PC  +  1 × DNS Server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0" y="402336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40233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× PC  +  1 × DNS Server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46120" y="3721608"/>
            <a:ext cx="914" cy="301752"/>
          </a:xfrm>
          <a:prstGeom prst="line">
            <a:avLst/>
          </a:prstGeom>
          <a:noFill/>
          <a:ln w="19050">
            <a:solidFill>
              <a:srgbClr val="6B7A8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61120" y="3721608"/>
            <a:ext cx="914" cy="301752"/>
          </a:xfrm>
          <a:prstGeom prst="line">
            <a:avLst/>
          </a:prstGeom>
          <a:noFill/>
          <a:ln w="19050">
            <a:solidFill>
              <a:srgbClr val="6B7A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46177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PC0–PC6 · Server0 (DNS)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192.168.10.2 – .10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92240" y="46177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PC7–PC13 · Server1 (DNS)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192.168.20.2 – .9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20040"/>
            <a:ext cx="384048" cy="384048"/>
          </a:xfrm>
          <a:prstGeom prst="line">
            <a:avLst/>
          </a:prstGeom>
          <a:noFill/>
          <a:ln w="12700">
            <a:solidFill>
              <a:srgbClr val="C7D1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94008" y="374904"/>
            <a:ext cx="384048" cy="329184"/>
          </a:xfrm>
          <a:prstGeom prst="line">
            <a:avLst/>
          </a:prstGeom>
          <a:noFill/>
          <a:ln w="12700">
            <a:solidFill>
              <a:srgbClr val="C7D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274552" y="704088"/>
            <a:ext cx="219456" cy="384048"/>
          </a:xfrm>
          <a:prstGeom prst="line">
            <a:avLst/>
          </a:prstGeom>
          <a:noFill/>
          <a:ln w="12700">
            <a:solidFill>
              <a:srgbClr val="C7D1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8812" y="278892"/>
            <a:ext cx="82296" cy="82296"/>
          </a:xfrm>
          <a:prstGeom prst="ellipse">
            <a:avLst/>
          </a:prstGeom>
          <a:solidFill>
            <a:srgbClr val="C7D1E0"/>
          </a:solidFill>
          <a:ln/>
        </p:spPr>
      </p:sp>
      <p:sp>
        <p:nvSpPr>
          <p:cNvPr id="6" name="Shape 4"/>
          <p:cNvSpPr/>
          <p:nvPr/>
        </p:nvSpPr>
        <p:spPr>
          <a:xfrm>
            <a:off x="11836908" y="333756"/>
            <a:ext cx="82296" cy="82296"/>
          </a:xfrm>
          <a:prstGeom prst="ellipse">
            <a:avLst/>
          </a:prstGeom>
          <a:solidFill>
            <a:srgbClr val="C7D1E0"/>
          </a:solidFill>
          <a:ln/>
        </p:spPr>
      </p:sp>
      <p:sp>
        <p:nvSpPr>
          <p:cNvPr id="7" name="Shape 5"/>
          <p:cNvSpPr/>
          <p:nvPr/>
        </p:nvSpPr>
        <p:spPr>
          <a:xfrm>
            <a:off x="11233404" y="1046988"/>
            <a:ext cx="82296" cy="82296"/>
          </a:xfrm>
          <a:prstGeom prst="ellipse">
            <a:avLst/>
          </a:prstGeom>
          <a:solidFill>
            <a:srgbClr val="C7D1E0"/>
          </a:solidFill>
          <a:ln/>
        </p:spPr>
      </p:sp>
      <p:sp>
        <p:nvSpPr>
          <p:cNvPr id="8" name="Shape 6"/>
          <p:cNvSpPr/>
          <p:nvPr/>
        </p:nvSpPr>
        <p:spPr>
          <a:xfrm>
            <a:off x="11411712" y="62179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EE6C4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Routing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1508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router is configured with a static route pointing to the remote department's network through the serial link.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11091672" cy="1371600"/>
          </a:xfrm>
          <a:prstGeom prst="rect">
            <a:avLst/>
          </a:prstGeom>
          <a:solidFill>
            <a:srgbClr val="F1F4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377440"/>
            <a:ext cx="1828800" cy="137160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3774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743200" y="2606040"/>
            <a:ext cx="8531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 </a:t>
            </a:r>
            <a:r>
              <a:rPr lang="en-US" sz="17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192.168.20.0/24</a:t>
            </a:r>
            <a:r>
              <a:rPr lang="en-US" sz="17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via  </a:t>
            </a:r>
            <a:r>
              <a:rPr lang="en-US" sz="17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10.10.10.2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743200" y="3154680"/>
            <a:ext cx="8531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→ Computer Science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11091672" cy="1371600"/>
          </a:xfrm>
          <a:prstGeom prst="rect">
            <a:avLst/>
          </a:prstGeom>
          <a:solidFill>
            <a:srgbClr val="F1F4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069080"/>
            <a:ext cx="1828800" cy="137160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0690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Router1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743200" y="4297680"/>
            <a:ext cx="8531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 </a:t>
            </a:r>
            <a:r>
              <a:rPr lang="en-US" sz="17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192.168.10.0/24</a:t>
            </a:r>
            <a:r>
              <a:rPr lang="en-US" sz="17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via  </a:t>
            </a:r>
            <a:r>
              <a:rPr lang="en-US" sz="17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10.10.10.1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743200" y="4846320"/>
            <a:ext cx="8531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→ Data Science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806440"/>
            <a:ext cx="11091672" cy="502920"/>
          </a:xfrm>
          <a:prstGeom prst="rect">
            <a:avLst/>
          </a:prstGeom>
          <a:solidFill>
            <a:srgbClr val="E9F5EE"/>
          </a:solidFill>
          <a:ln w="12700">
            <a:solidFill>
              <a:srgbClr val="BFE3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806440"/>
            <a:ext cx="10543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Both networks can reach each other bidirectionally through the router link.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20040"/>
            <a:ext cx="384048" cy="384048"/>
          </a:xfrm>
          <a:prstGeom prst="line">
            <a:avLst/>
          </a:prstGeom>
          <a:noFill/>
          <a:ln w="12700">
            <a:solidFill>
              <a:srgbClr val="C7D1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94008" y="374904"/>
            <a:ext cx="384048" cy="329184"/>
          </a:xfrm>
          <a:prstGeom prst="line">
            <a:avLst/>
          </a:prstGeom>
          <a:noFill/>
          <a:ln w="12700">
            <a:solidFill>
              <a:srgbClr val="C7D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274552" y="704088"/>
            <a:ext cx="219456" cy="384048"/>
          </a:xfrm>
          <a:prstGeom prst="line">
            <a:avLst/>
          </a:prstGeom>
          <a:noFill/>
          <a:ln w="12700">
            <a:solidFill>
              <a:srgbClr val="C7D1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8812" y="278892"/>
            <a:ext cx="82296" cy="82296"/>
          </a:xfrm>
          <a:prstGeom prst="ellipse">
            <a:avLst/>
          </a:prstGeom>
          <a:solidFill>
            <a:srgbClr val="C7D1E0"/>
          </a:solidFill>
          <a:ln/>
        </p:spPr>
      </p:sp>
      <p:sp>
        <p:nvSpPr>
          <p:cNvPr id="6" name="Shape 4"/>
          <p:cNvSpPr/>
          <p:nvPr/>
        </p:nvSpPr>
        <p:spPr>
          <a:xfrm>
            <a:off x="11836908" y="333756"/>
            <a:ext cx="82296" cy="82296"/>
          </a:xfrm>
          <a:prstGeom prst="ellipse">
            <a:avLst/>
          </a:prstGeom>
          <a:solidFill>
            <a:srgbClr val="C7D1E0"/>
          </a:solidFill>
          <a:ln/>
        </p:spPr>
      </p:sp>
      <p:sp>
        <p:nvSpPr>
          <p:cNvPr id="7" name="Shape 5"/>
          <p:cNvSpPr/>
          <p:nvPr/>
        </p:nvSpPr>
        <p:spPr>
          <a:xfrm>
            <a:off x="11233404" y="1046988"/>
            <a:ext cx="82296" cy="82296"/>
          </a:xfrm>
          <a:prstGeom prst="ellipse">
            <a:avLst/>
          </a:prstGeom>
          <a:solidFill>
            <a:srgbClr val="C7D1E0"/>
          </a:solidFill>
          <a:ln/>
        </p:spPr>
      </p:sp>
      <p:sp>
        <p:nvSpPr>
          <p:cNvPr id="8" name="Shape 6"/>
          <p:cNvSpPr/>
          <p:nvPr/>
        </p:nvSpPr>
        <p:spPr>
          <a:xfrm>
            <a:off x="11411712" y="62179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EE6C4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DNS Configuration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1508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department's server runs a DNS service, mapping every device name in its network to its IP address.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5349240" cy="3566160"/>
          </a:xfrm>
          <a:prstGeom prst="rect">
            <a:avLst/>
          </a:prstGeom>
          <a:solidFill>
            <a:srgbClr val="F1F4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148840"/>
            <a:ext cx="5349240" cy="50292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14884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Server0 — Data Science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8680" y="2880360"/>
            <a:ext cx="24071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pc0 – pc6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955798" y="2880360"/>
            <a:ext cx="262204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192.168.10.2 – .8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3383280"/>
            <a:ext cx="480060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520440"/>
            <a:ext cx="24071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955798" y="3520440"/>
            <a:ext cx="262204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192.168.10.10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4023360"/>
            <a:ext cx="480060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160520"/>
            <a:ext cx="24071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server.datasci.local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955798" y="4160520"/>
            <a:ext cx="262204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192.168.10.10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4800600"/>
            <a:ext cx="4800600" cy="68580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480060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server.datasci.local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480060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192.168.10.10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63640" y="2148840"/>
            <a:ext cx="5349240" cy="3566160"/>
          </a:xfrm>
          <a:prstGeom prst="rect">
            <a:avLst/>
          </a:prstGeom>
          <a:solidFill>
            <a:srgbClr val="F1F4F8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2148840"/>
            <a:ext cx="5349240" cy="502920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214884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Server1 — Computer Science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583680" y="2880360"/>
            <a:ext cx="24071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pc7 – pc13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670798" y="2880360"/>
            <a:ext cx="262204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192.168.20.2 – .8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537960" y="3383280"/>
            <a:ext cx="480060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3520440"/>
            <a:ext cx="24071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670798" y="3520440"/>
            <a:ext cx="262204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192.168.20.9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537960" y="4023360"/>
            <a:ext cx="4800600" cy="0"/>
          </a:xfrm>
          <a:prstGeom prst="line">
            <a:avLst/>
          </a:prstGeom>
          <a:noFill/>
          <a:ln w="12700">
            <a:solidFill>
              <a:srgbClr val="DCE3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4160520"/>
            <a:ext cx="24071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server.comp-sci.local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670798" y="4160520"/>
            <a:ext cx="262204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192.168.20.9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537960" y="4800600"/>
            <a:ext cx="4800600" cy="68580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38" name="Text 36"/>
          <p:cNvSpPr/>
          <p:nvPr/>
        </p:nvSpPr>
        <p:spPr>
          <a:xfrm>
            <a:off x="6675120" y="480060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E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server.comp-sci.local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37960" y="480060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192.168.20.9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20040"/>
            <a:ext cx="384048" cy="384048"/>
          </a:xfrm>
          <a:prstGeom prst="line">
            <a:avLst/>
          </a:prstGeom>
          <a:noFill/>
          <a:ln w="12700">
            <a:solidFill>
              <a:srgbClr val="C7D1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94008" y="374904"/>
            <a:ext cx="384048" cy="329184"/>
          </a:xfrm>
          <a:prstGeom prst="line">
            <a:avLst/>
          </a:prstGeom>
          <a:noFill/>
          <a:ln w="12700">
            <a:solidFill>
              <a:srgbClr val="C7D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274552" y="704088"/>
            <a:ext cx="219456" cy="384048"/>
          </a:xfrm>
          <a:prstGeom prst="line">
            <a:avLst/>
          </a:prstGeom>
          <a:noFill/>
          <a:ln w="12700">
            <a:solidFill>
              <a:srgbClr val="C7D1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8812" y="278892"/>
            <a:ext cx="82296" cy="82296"/>
          </a:xfrm>
          <a:prstGeom prst="ellipse">
            <a:avLst/>
          </a:prstGeom>
          <a:solidFill>
            <a:srgbClr val="C7D1E0"/>
          </a:solidFill>
          <a:ln/>
        </p:spPr>
      </p:sp>
      <p:sp>
        <p:nvSpPr>
          <p:cNvPr id="6" name="Shape 4"/>
          <p:cNvSpPr/>
          <p:nvPr/>
        </p:nvSpPr>
        <p:spPr>
          <a:xfrm>
            <a:off x="11836908" y="333756"/>
            <a:ext cx="82296" cy="82296"/>
          </a:xfrm>
          <a:prstGeom prst="ellipse">
            <a:avLst/>
          </a:prstGeom>
          <a:solidFill>
            <a:srgbClr val="C7D1E0"/>
          </a:solidFill>
          <a:ln/>
        </p:spPr>
      </p:sp>
      <p:sp>
        <p:nvSpPr>
          <p:cNvPr id="7" name="Shape 5"/>
          <p:cNvSpPr/>
          <p:nvPr/>
        </p:nvSpPr>
        <p:spPr>
          <a:xfrm>
            <a:off x="11233404" y="1046988"/>
            <a:ext cx="82296" cy="82296"/>
          </a:xfrm>
          <a:prstGeom prst="ellipse">
            <a:avLst/>
          </a:prstGeom>
          <a:solidFill>
            <a:srgbClr val="C7D1E0"/>
          </a:solidFill>
          <a:ln/>
        </p:spPr>
      </p:sp>
      <p:sp>
        <p:nvSpPr>
          <p:cNvPr id="8" name="Shape 6"/>
          <p:cNvSpPr/>
          <p:nvPr/>
        </p:nvSpPr>
        <p:spPr>
          <a:xfrm>
            <a:off x="11411712" y="62179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EE6C4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Ping Test — Within the Same Network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1508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</a:t>
            </a: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PC9</a:t>
            </a: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resolving and pinging device </a:t>
            </a: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"Pc10"</a:t>
            </a: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name (via DNS)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11091672" cy="3749040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148840"/>
            <a:ext cx="11091672" cy="32004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224942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877824" y="224942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9848" y="224942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2651760"/>
            <a:ext cx="10451592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C:\&gt;nslookup Pc10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Server: [192.168.20.8]   Address: 192.168.20.8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Non-authoritative answer: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pc10   Address: 192.168.20.3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C:\&gt;ping Pc10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Pinging 192.168.20.3 with 32 bytes of data: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 from 192.168.20.3: bytes=32 time&lt;1ms TTL=128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 from 192.168.20.3: bytes=32 time&lt;1ms TTL=128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Packets: Sent = 4, Received = 4, Lost = 0 (0% loss)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20040"/>
            <a:ext cx="384048" cy="384048"/>
          </a:xfrm>
          <a:prstGeom prst="line">
            <a:avLst/>
          </a:prstGeom>
          <a:noFill/>
          <a:ln w="12700">
            <a:solidFill>
              <a:srgbClr val="C7D1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94008" y="374904"/>
            <a:ext cx="384048" cy="329184"/>
          </a:xfrm>
          <a:prstGeom prst="line">
            <a:avLst/>
          </a:prstGeom>
          <a:noFill/>
          <a:ln w="12700">
            <a:solidFill>
              <a:srgbClr val="C7D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274552" y="704088"/>
            <a:ext cx="219456" cy="384048"/>
          </a:xfrm>
          <a:prstGeom prst="line">
            <a:avLst/>
          </a:prstGeom>
          <a:noFill/>
          <a:ln w="12700">
            <a:solidFill>
              <a:srgbClr val="C7D1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8812" y="278892"/>
            <a:ext cx="82296" cy="82296"/>
          </a:xfrm>
          <a:prstGeom prst="ellipse">
            <a:avLst/>
          </a:prstGeom>
          <a:solidFill>
            <a:srgbClr val="C7D1E0"/>
          </a:solidFill>
          <a:ln/>
        </p:spPr>
      </p:sp>
      <p:sp>
        <p:nvSpPr>
          <p:cNvPr id="6" name="Shape 4"/>
          <p:cNvSpPr/>
          <p:nvPr/>
        </p:nvSpPr>
        <p:spPr>
          <a:xfrm>
            <a:off x="11836908" y="333756"/>
            <a:ext cx="82296" cy="82296"/>
          </a:xfrm>
          <a:prstGeom prst="ellipse">
            <a:avLst/>
          </a:prstGeom>
          <a:solidFill>
            <a:srgbClr val="C7D1E0"/>
          </a:solidFill>
          <a:ln/>
        </p:spPr>
      </p:sp>
      <p:sp>
        <p:nvSpPr>
          <p:cNvPr id="7" name="Shape 5"/>
          <p:cNvSpPr/>
          <p:nvPr/>
        </p:nvSpPr>
        <p:spPr>
          <a:xfrm>
            <a:off x="11233404" y="1046988"/>
            <a:ext cx="82296" cy="82296"/>
          </a:xfrm>
          <a:prstGeom prst="ellipse">
            <a:avLst/>
          </a:prstGeom>
          <a:solidFill>
            <a:srgbClr val="C7D1E0"/>
          </a:solidFill>
          <a:ln/>
        </p:spPr>
      </p:sp>
      <p:sp>
        <p:nvSpPr>
          <p:cNvPr id="8" name="Shape 6"/>
          <p:cNvSpPr/>
          <p:nvPr/>
        </p:nvSpPr>
        <p:spPr>
          <a:xfrm>
            <a:off x="11411712" y="62179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EE6C4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Ping Test — Between Different Networks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1508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</a:t>
            </a: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PC0 (Data Science)</a:t>
            </a: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</a:t>
            </a: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192.168.20.2 (Computer Science)</a:t>
            </a:r>
            <a:r>
              <a:rPr lang="en-US" sz="14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IP address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11091672" cy="2697480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148840"/>
            <a:ext cx="11091672" cy="320040"/>
          </a:xfrm>
          <a:prstGeom prst="rect">
            <a:avLst/>
          </a:prstGeom>
          <a:solidFill>
            <a:srgbClr val="1B263B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2249424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877824" y="2249424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9848" y="2249424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2651760"/>
            <a:ext cx="1045159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C:\&gt;ping 192.168.20.2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Pinging 192.168.20.2 with 32 bytes of data: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 from 192.168.20.2: bytes=32 time=26ms TTL=126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 from 192.168.20.2: bytes=32 time=42ms TTL=126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Packets: Sent = 4, Received = 4, Lost = 0 (0% loss)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166360"/>
            <a:ext cx="11091672" cy="594360"/>
          </a:xfrm>
          <a:prstGeom prst="rect">
            <a:avLst/>
          </a:prstGeom>
          <a:solidFill>
            <a:srgbClr val="FFF1EC"/>
          </a:solidFill>
          <a:ln w="12700">
            <a:solidFill>
              <a:srgbClr val="FBD3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166360"/>
            <a:ext cx="10543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= 126</a:t>
            </a:r>
            <a:r>
              <a:rPr lang="en-US" sz="13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(vs. 128 for local traffic) confirms the packet passed through one router hop between networks.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320040"/>
            <a:ext cx="384048" cy="384048"/>
          </a:xfrm>
          <a:prstGeom prst="line">
            <a:avLst/>
          </a:prstGeom>
          <a:noFill/>
          <a:ln w="12700">
            <a:solidFill>
              <a:srgbClr val="C7D1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94008" y="374904"/>
            <a:ext cx="384048" cy="329184"/>
          </a:xfrm>
          <a:prstGeom prst="line">
            <a:avLst/>
          </a:prstGeom>
          <a:noFill/>
          <a:ln w="12700">
            <a:solidFill>
              <a:srgbClr val="C7D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1274552" y="704088"/>
            <a:ext cx="219456" cy="384048"/>
          </a:xfrm>
          <a:prstGeom prst="line">
            <a:avLst/>
          </a:prstGeom>
          <a:noFill/>
          <a:ln w="12700">
            <a:solidFill>
              <a:srgbClr val="C7D1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8812" y="278892"/>
            <a:ext cx="82296" cy="82296"/>
          </a:xfrm>
          <a:prstGeom prst="ellipse">
            <a:avLst/>
          </a:prstGeom>
          <a:solidFill>
            <a:srgbClr val="C7D1E0"/>
          </a:solidFill>
          <a:ln/>
        </p:spPr>
      </p:sp>
      <p:sp>
        <p:nvSpPr>
          <p:cNvPr id="6" name="Shape 4"/>
          <p:cNvSpPr/>
          <p:nvPr/>
        </p:nvSpPr>
        <p:spPr>
          <a:xfrm>
            <a:off x="11836908" y="333756"/>
            <a:ext cx="82296" cy="82296"/>
          </a:xfrm>
          <a:prstGeom prst="ellipse">
            <a:avLst/>
          </a:prstGeom>
          <a:solidFill>
            <a:srgbClr val="C7D1E0"/>
          </a:solidFill>
          <a:ln/>
        </p:spPr>
      </p:sp>
      <p:sp>
        <p:nvSpPr>
          <p:cNvPr id="7" name="Shape 5"/>
          <p:cNvSpPr/>
          <p:nvPr/>
        </p:nvSpPr>
        <p:spPr>
          <a:xfrm>
            <a:off x="11233404" y="1046988"/>
            <a:ext cx="82296" cy="82296"/>
          </a:xfrm>
          <a:prstGeom prst="ellipse">
            <a:avLst/>
          </a:prstGeom>
          <a:solidFill>
            <a:srgbClr val="C7D1E0"/>
          </a:solidFill>
          <a:ln/>
        </p:spPr>
      </p:sp>
      <p:sp>
        <p:nvSpPr>
          <p:cNvPr id="8" name="Shape 6"/>
          <p:cNvSpPr/>
          <p:nvPr/>
        </p:nvSpPr>
        <p:spPr>
          <a:xfrm>
            <a:off x="11411712" y="62179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EE6C4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48640" y="1746504"/>
            <a:ext cx="329184" cy="329184"/>
          </a:xfrm>
          <a:prstGeom prst="ellipse">
            <a:avLst/>
          </a:prstGeom>
          <a:solidFill>
            <a:srgbClr val="E9F5EE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7465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1691640"/>
            <a:ext cx="10424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departmental networks were designed and fully connected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368296"/>
            <a:ext cx="329184" cy="329184"/>
          </a:xfrm>
          <a:prstGeom prst="ellipse">
            <a:avLst/>
          </a:prstGeom>
          <a:solidFill>
            <a:srgbClr val="E9F5EE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3682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313432"/>
            <a:ext cx="10424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routing enables full bidirectional communication between departments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2990088"/>
            <a:ext cx="329184" cy="329184"/>
          </a:xfrm>
          <a:prstGeom prst="ellipse">
            <a:avLst/>
          </a:prstGeom>
          <a:solidFill>
            <a:srgbClr val="E9F5EE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9900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2935224"/>
            <a:ext cx="10424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resolution works correctly within each network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329184" cy="329184"/>
          </a:xfrm>
          <a:prstGeom prst="ellipse">
            <a:avLst/>
          </a:prstGeom>
          <a:solidFill>
            <a:srgbClr val="E9F5EE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611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557016"/>
            <a:ext cx="10424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required ping tests passed with 0% packet loss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4233672"/>
            <a:ext cx="329184" cy="329184"/>
          </a:xfrm>
          <a:prstGeom prst="ellipse">
            <a:avLst/>
          </a:prstGeom>
          <a:solidFill>
            <a:srgbClr val="E9F5EE"/>
          </a:solidFill>
          <a:ln w="12700">
            <a:solidFill>
              <a:srgbClr val="1E7A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2336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4178808"/>
            <a:ext cx="10424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reflects real-world network segmentation practices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5029200"/>
            <a:ext cx="11091672" cy="73152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0292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Tracer file (.pkt)   ·   Project Report (.docx)   ·   Presentation (.pptx)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14400" y="1097280"/>
            <a:ext cx="1069848" cy="713232"/>
          </a:xfrm>
          <a:prstGeom prst="line">
            <a:avLst/>
          </a:prstGeom>
          <a:noFill/>
          <a:ln w="12700">
            <a:solidFill>
              <a:srgbClr val="3D5A80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84248" y="1097280"/>
            <a:ext cx="1188720" cy="475488"/>
          </a:xfrm>
          <a:prstGeom prst="line">
            <a:avLst/>
          </a:prstGeom>
          <a:noFill/>
          <a:ln w="12700">
            <a:solidFill>
              <a:srgbClr val="3D5A80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59736" y="1572768"/>
            <a:ext cx="713232" cy="1069848"/>
          </a:xfrm>
          <a:prstGeom prst="line">
            <a:avLst/>
          </a:prstGeom>
          <a:noFill/>
          <a:ln w="12700">
            <a:solidFill>
              <a:srgbClr val="3D5A80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71016" y="2642616"/>
            <a:ext cx="1188720" cy="237744"/>
          </a:xfrm>
          <a:prstGeom prst="line">
            <a:avLst/>
          </a:prstGeom>
          <a:noFill/>
          <a:ln w="12700">
            <a:solidFill>
              <a:srgbClr val="3D5A80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914400" y="1810512"/>
            <a:ext cx="356616" cy="1069848"/>
          </a:xfrm>
          <a:prstGeom prst="line">
            <a:avLst/>
          </a:prstGeom>
          <a:noFill/>
          <a:ln w="12700">
            <a:solidFill>
              <a:srgbClr val="3D5A80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914400" y="1572768"/>
            <a:ext cx="2258568" cy="237744"/>
          </a:xfrm>
          <a:prstGeom prst="line">
            <a:avLst/>
          </a:prstGeom>
          <a:noFill/>
          <a:ln w="12700">
            <a:solidFill>
              <a:srgbClr val="3D5A80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764792"/>
            <a:ext cx="91440" cy="91440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9" name="Shape 7"/>
          <p:cNvSpPr/>
          <p:nvPr/>
        </p:nvSpPr>
        <p:spPr>
          <a:xfrm>
            <a:off x="1938528" y="1051560"/>
            <a:ext cx="91440" cy="91440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10" name="Shape 8"/>
          <p:cNvSpPr/>
          <p:nvPr/>
        </p:nvSpPr>
        <p:spPr>
          <a:xfrm>
            <a:off x="3127248" y="1527048"/>
            <a:ext cx="91440" cy="91440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11" name="Shape 9"/>
          <p:cNvSpPr/>
          <p:nvPr/>
        </p:nvSpPr>
        <p:spPr>
          <a:xfrm>
            <a:off x="2414016" y="2596896"/>
            <a:ext cx="91440" cy="91440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12" name="Shape 10"/>
          <p:cNvSpPr/>
          <p:nvPr/>
        </p:nvSpPr>
        <p:spPr>
          <a:xfrm>
            <a:off x="1225296" y="2834640"/>
            <a:ext cx="91440" cy="91440"/>
          </a:xfrm>
          <a:prstGeom prst="ellipse">
            <a:avLst/>
          </a:prstGeom>
          <a:solidFill>
            <a:srgbClr val="EE6C4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54864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Network Project — CS &amp; DS Departments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4114800" cy="0"/>
          </a:xfrm>
          <a:prstGeom prst="line">
            <a:avLst/>
          </a:prstGeom>
          <a:noFill/>
          <a:ln w="12700">
            <a:solidFill>
              <a:srgbClr val="3D5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Aseel Alanzi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github.com/Aaseel11   ·   linkedin.com/in/aseel-alanazi410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682</Words>
  <Application>Microsoft Office PowerPoint</Application>
  <PresentationFormat>شاشة عريضة</PresentationFormat>
  <Paragraphs>152</Paragraphs>
  <Slides>11</Slides>
  <Notes>11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اسيل العنزي</cp:lastModifiedBy>
  <cp:revision>2</cp:revision>
  <dcterms:created xsi:type="dcterms:W3CDTF">2026-08-17T09:30:05Z</dcterms:created>
  <dcterms:modified xsi:type="dcterms:W3CDTF">2026-08-17T09:38:37Z</dcterms:modified>
</cp:coreProperties>
</file>